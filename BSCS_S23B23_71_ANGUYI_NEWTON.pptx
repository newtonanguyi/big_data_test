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rchivo Black" panose="020B0604020202020204" charset="0"/>
      <p:regular r:id="rId11"/>
    </p:embeddedFont>
    <p:embeddedFont>
      <p:font typeface="Calibri" panose="020F0502020204030204" pitchFamily="34" charset="0"/>
      <p:regular r:id="rId12"/>
      <p:bold r:id="rId13"/>
      <p:italic r:id="rId14"/>
      <p:boldItalic r:id="rId15"/>
    </p:embeddedFont>
    <p:embeddedFont>
      <p:font typeface="Canva Sans Bold" panose="020B0604020202020204" charset="0"/>
      <p:regular r:id="rId16"/>
    </p:embeddedFont>
    <p:embeddedFont>
      <p:font typeface="Poppins" panose="00000500000000000000" pitchFamily="2" charset="0"/>
      <p:regular r:id="rId17"/>
    </p:embeddedFont>
    <p:embeddedFont>
      <p:font typeface="Poppins Bold" panose="00000800000000000000"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144"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5.sv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2.jpeg"/><Relationship Id="rId10" Type="http://schemas.openxmlformats.org/officeDocument/2006/relationships/hyperlink" Target="https://github.com/newtonanguyi/BIG_DATA_TEST/blob/main/abilify_ora_effected_peple_reviewl.csv" TargetMode="External"/><Relationship Id="rId4" Type="http://schemas.openxmlformats.org/officeDocument/2006/relationships/image" Target="../media/image5.sv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3.jpe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7.png"/><Relationship Id="rId4" Type="http://schemas.openxmlformats.org/officeDocument/2006/relationships/image" Target="../media/image5.sv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5.sv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5.sv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0D1FF">
                    <a:alpha val="82000"/>
                  </a:srgbClr>
                </a:gs>
                <a:gs pos="50000">
                  <a:srgbClr val="001496">
                    <a:alpha val="82000"/>
                  </a:srgbClr>
                </a:gs>
                <a:gs pos="100000">
                  <a:srgbClr val="000F70">
                    <a:alpha val="82000"/>
                  </a:srgbClr>
                </a:gs>
              </a:gsLst>
              <a:path path="circle">
                <a:fillToRect l="50000" t="50000" r="50000" b="50000"/>
              </a:path>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5594739" y="1594239"/>
            <a:ext cx="7098522" cy="7098522"/>
          </a:xfrm>
          <a:custGeom>
            <a:avLst/>
            <a:gdLst/>
            <a:ahLst/>
            <a:cxnLst/>
            <a:rect l="l" t="t" r="r" b="b"/>
            <a:pathLst>
              <a:path w="7098522" h="7098522">
                <a:moveTo>
                  <a:pt x="0" y="0"/>
                </a:moveTo>
                <a:lnTo>
                  <a:pt x="7098522" y="0"/>
                </a:lnTo>
                <a:lnTo>
                  <a:pt x="7098522" y="7098522"/>
                </a:lnTo>
                <a:lnTo>
                  <a:pt x="0" y="7098522"/>
                </a:lnTo>
                <a:lnTo>
                  <a:pt x="0" y="0"/>
                </a:lnTo>
                <a:close/>
              </a:path>
            </a:pathLst>
          </a:custGeom>
          <a:blipFill>
            <a:blip r:embed="rId3">
              <a:alphaModFix amt="34000"/>
              <a:extLst>
                <a:ext uri="{96DAC541-7B7A-43D3-8B79-37D633B846F1}">
                  <asvg:svgBlip xmlns:asvg="http://schemas.microsoft.com/office/drawing/2016/SVG/main" r:embed="rId4"/>
                </a:ext>
              </a:extLst>
            </a:blip>
            <a:stretch>
              <a:fillRect/>
            </a:stretch>
          </a:blipFill>
        </p:spPr>
      </p:sp>
      <p:sp>
        <p:nvSpPr>
          <p:cNvPr id="7" name="Freeform 7"/>
          <p:cNvSpPr/>
          <p:nvPr/>
        </p:nvSpPr>
        <p:spPr>
          <a:xfrm>
            <a:off x="722342" y="672469"/>
            <a:ext cx="530888" cy="617312"/>
          </a:xfrm>
          <a:custGeom>
            <a:avLst/>
            <a:gdLst/>
            <a:ahLst/>
            <a:cxnLst/>
            <a:rect l="l" t="t" r="r" b="b"/>
            <a:pathLst>
              <a:path w="530888" h="617312">
                <a:moveTo>
                  <a:pt x="0" y="0"/>
                </a:moveTo>
                <a:lnTo>
                  <a:pt x="530888" y="0"/>
                </a:lnTo>
                <a:lnTo>
                  <a:pt x="530888" y="617312"/>
                </a:lnTo>
                <a:lnTo>
                  <a:pt x="0" y="61731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2278626" y="3071776"/>
            <a:ext cx="13730749" cy="1829634"/>
          </a:xfrm>
          <a:prstGeom prst="rect">
            <a:avLst/>
          </a:prstGeom>
        </p:spPr>
        <p:txBody>
          <a:bodyPr lIns="0" tIns="0" rIns="0" bIns="0" rtlCol="0" anchor="t">
            <a:spAutoFit/>
          </a:bodyPr>
          <a:lstStyle/>
          <a:p>
            <a:pPr algn="ctr">
              <a:lnSpc>
                <a:spcPts val="14129"/>
              </a:lnSpc>
            </a:pPr>
            <a:r>
              <a:rPr lang="en-US" sz="10092" b="1">
                <a:solidFill>
                  <a:srgbClr val="FFFFFF"/>
                </a:solidFill>
                <a:latin typeface="Poppins Bold"/>
                <a:ea typeface="Poppins Bold"/>
                <a:cs typeface="Poppins Bold"/>
                <a:sym typeface="Poppins Bold"/>
              </a:rPr>
              <a:t>Sentiment Analysis</a:t>
            </a:r>
          </a:p>
        </p:txBody>
      </p:sp>
      <p:sp>
        <p:nvSpPr>
          <p:cNvPr id="9" name="TextBox 9"/>
          <p:cNvSpPr txBox="1"/>
          <p:nvPr/>
        </p:nvSpPr>
        <p:spPr>
          <a:xfrm>
            <a:off x="2278626" y="4797095"/>
            <a:ext cx="13730749" cy="2122854"/>
          </a:xfrm>
          <a:prstGeom prst="rect">
            <a:avLst/>
          </a:prstGeom>
        </p:spPr>
        <p:txBody>
          <a:bodyPr lIns="0" tIns="0" rIns="0" bIns="0" rtlCol="0" anchor="t">
            <a:spAutoFit/>
          </a:bodyPr>
          <a:lstStyle/>
          <a:p>
            <a:pPr algn="ctr">
              <a:lnSpc>
                <a:spcPts val="16368"/>
              </a:lnSpc>
            </a:pPr>
            <a:r>
              <a:rPr lang="en-US" sz="11691">
                <a:solidFill>
                  <a:srgbClr val="FFFFFF"/>
                </a:solidFill>
                <a:latin typeface="Poppins"/>
                <a:ea typeface="Poppins"/>
                <a:cs typeface="Poppins"/>
                <a:sym typeface="Poppins"/>
              </a:rPr>
              <a:t>Presentation</a:t>
            </a:r>
          </a:p>
        </p:txBody>
      </p:sp>
      <p:sp>
        <p:nvSpPr>
          <p:cNvPr id="10" name="TextBox 10"/>
          <p:cNvSpPr txBox="1"/>
          <p:nvPr/>
        </p:nvSpPr>
        <p:spPr>
          <a:xfrm>
            <a:off x="3137644" y="8352155"/>
            <a:ext cx="12120801" cy="906145"/>
          </a:xfrm>
          <a:prstGeom prst="rect">
            <a:avLst/>
          </a:prstGeom>
        </p:spPr>
        <p:txBody>
          <a:bodyPr lIns="0" tIns="0" rIns="0" bIns="0" rtlCol="0" anchor="t">
            <a:spAutoFit/>
          </a:bodyPr>
          <a:lstStyle/>
          <a:p>
            <a:pPr algn="ctr">
              <a:lnSpc>
                <a:spcPts val="7279"/>
              </a:lnSpc>
            </a:pPr>
            <a:r>
              <a:rPr lang="en-US" sz="5199">
                <a:solidFill>
                  <a:srgbClr val="10D3F9"/>
                </a:solidFill>
                <a:latin typeface="Archivo Black"/>
                <a:ea typeface="Archivo Black"/>
                <a:cs typeface="Archivo Black"/>
                <a:sym typeface="Archivo Black"/>
              </a:rPr>
              <a:t>BY ANGUYI NEWTON S23B23/071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722342" y="672469"/>
            <a:ext cx="530888" cy="617312"/>
          </a:xfrm>
          <a:custGeom>
            <a:avLst/>
            <a:gdLst/>
            <a:ahLst/>
            <a:cxnLst/>
            <a:rect l="l" t="t" r="r" b="b"/>
            <a:pathLst>
              <a:path w="530888" h="617312">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694512" y="2520315"/>
            <a:ext cx="5961378" cy="6318882"/>
            <a:chOff x="0" y="0"/>
            <a:chExt cx="923573" cy="978960"/>
          </a:xfrm>
        </p:grpSpPr>
        <p:sp>
          <p:nvSpPr>
            <p:cNvPr id="8" name="Freeform 8"/>
            <p:cNvSpPr/>
            <p:nvPr/>
          </p:nvSpPr>
          <p:spPr>
            <a:xfrm>
              <a:off x="0" y="0"/>
              <a:ext cx="923573" cy="978960"/>
            </a:xfrm>
            <a:custGeom>
              <a:avLst/>
              <a:gdLst/>
              <a:ahLst/>
              <a:cxnLst/>
              <a:rect l="l" t="t" r="r" b="b"/>
              <a:pathLst>
                <a:path w="923573" h="978960">
                  <a:moveTo>
                    <a:pt x="103894" y="0"/>
                  </a:moveTo>
                  <a:lnTo>
                    <a:pt x="819679" y="0"/>
                  </a:lnTo>
                  <a:cubicBezTo>
                    <a:pt x="847233" y="0"/>
                    <a:pt x="873659" y="10946"/>
                    <a:pt x="893143" y="30430"/>
                  </a:cubicBezTo>
                  <a:cubicBezTo>
                    <a:pt x="912627" y="49914"/>
                    <a:pt x="923573" y="76340"/>
                    <a:pt x="923573" y="103894"/>
                  </a:cubicBezTo>
                  <a:lnTo>
                    <a:pt x="923573" y="875066"/>
                  </a:lnTo>
                  <a:cubicBezTo>
                    <a:pt x="923573" y="902620"/>
                    <a:pt x="912627" y="929046"/>
                    <a:pt x="893143" y="948530"/>
                  </a:cubicBezTo>
                  <a:cubicBezTo>
                    <a:pt x="873659" y="968014"/>
                    <a:pt x="847233" y="978960"/>
                    <a:pt x="819679" y="978960"/>
                  </a:cubicBezTo>
                  <a:lnTo>
                    <a:pt x="103894" y="978960"/>
                  </a:lnTo>
                  <a:cubicBezTo>
                    <a:pt x="76340" y="978960"/>
                    <a:pt x="49914" y="968014"/>
                    <a:pt x="30430" y="948530"/>
                  </a:cubicBezTo>
                  <a:cubicBezTo>
                    <a:pt x="10946" y="929046"/>
                    <a:pt x="0" y="902620"/>
                    <a:pt x="0" y="875066"/>
                  </a:cubicBezTo>
                  <a:lnTo>
                    <a:pt x="0" y="103894"/>
                  </a:lnTo>
                  <a:cubicBezTo>
                    <a:pt x="0" y="76340"/>
                    <a:pt x="10946" y="49914"/>
                    <a:pt x="30430" y="30430"/>
                  </a:cubicBezTo>
                  <a:cubicBezTo>
                    <a:pt x="49914" y="10946"/>
                    <a:pt x="76340" y="0"/>
                    <a:pt x="103894" y="0"/>
                  </a:cubicBezTo>
                  <a:close/>
                </a:path>
              </a:pathLst>
            </a:custGeom>
            <a:blipFill>
              <a:blip r:embed="rId5"/>
              <a:stretch>
                <a:fillRect r="-59094"/>
              </a:stretch>
            </a:blipFill>
            <a:ln w="323850" cap="rnd">
              <a:gradFill>
                <a:gsLst>
                  <a:gs pos="0">
                    <a:srgbClr val="00D1FF">
                      <a:alpha val="100000"/>
                    </a:srgbClr>
                  </a:gs>
                  <a:gs pos="100000">
                    <a:srgbClr val="001496">
                      <a:alpha val="100000"/>
                    </a:srgbClr>
                  </a:gs>
                </a:gsLst>
                <a:path path="circle">
                  <a:fillToRect r="100000" b="100000"/>
                </a:path>
                <a:tileRect l="-100000" t="-100000"/>
              </a:gradFill>
              <a:prstDash val="solid"/>
              <a:round/>
            </a:ln>
          </p:spPr>
        </p:sp>
      </p:grpSp>
      <p:sp>
        <p:nvSpPr>
          <p:cNvPr id="9" name="Freeform 9"/>
          <p:cNvSpPr/>
          <p:nvPr/>
        </p:nvSpPr>
        <p:spPr>
          <a:xfrm>
            <a:off x="8029515" y="-1031595"/>
            <a:ext cx="12370599" cy="1799360"/>
          </a:xfrm>
          <a:custGeom>
            <a:avLst/>
            <a:gdLst/>
            <a:ahLst/>
            <a:cxnLst/>
            <a:rect l="l" t="t" r="r" b="b"/>
            <a:pathLst>
              <a:path w="12370599" h="1799360">
                <a:moveTo>
                  <a:pt x="0" y="0"/>
                </a:moveTo>
                <a:lnTo>
                  <a:pt x="12370599" y="0"/>
                </a:lnTo>
                <a:lnTo>
                  <a:pt x="12370599" y="1799360"/>
                </a:lnTo>
                <a:lnTo>
                  <a:pt x="0" y="179936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4465286" y="7200900"/>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8">
              <a:alphaModFix amt="58000"/>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8553010" y="1337406"/>
            <a:ext cx="9366684" cy="2024577"/>
          </a:xfrm>
          <a:prstGeom prst="rect">
            <a:avLst/>
          </a:prstGeom>
        </p:spPr>
        <p:txBody>
          <a:bodyPr lIns="0" tIns="0" rIns="0" bIns="0" rtlCol="0" anchor="t">
            <a:spAutoFit/>
          </a:bodyPr>
          <a:lstStyle/>
          <a:p>
            <a:pPr algn="l">
              <a:lnSpc>
                <a:spcPts val="7582"/>
              </a:lnSpc>
            </a:pPr>
            <a:r>
              <a:rPr lang="en-US" sz="7290" b="1">
                <a:solidFill>
                  <a:srgbClr val="FFFFFF"/>
                </a:solidFill>
                <a:latin typeface="Poppins Bold"/>
                <a:ea typeface="Poppins Bold"/>
                <a:cs typeface="Poppins Bold"/>
                <a:sym typeface="Poppins Bold"/>
              </a:rPr>
              <a:t>What is Sentiment Analysis?</a:t>
            </a:r>
          </a:p>
        </p:txBody>
      </p:sp>
      <p:sp>
        <p:nvSpPr>
          <p:cNvPr id="12" name="TextBox 12"/>
          <p:cNvSpPr txBox="1"/>
          <p:nvPr/>
        </p:nvSpPr>
        <p:spPr>
          <a:xfrm>
            <a:off x="8629230" y="4002876"/>
            <a:ext cx="9080003" cy="5199380"/>
          </a:xfrm>
          <a:prstGeom prst="rect">
            <a:avLst/>
          </a:prstGeom>
        </p:spPr>
        <p:txBody>
          <a:bodyPr lIns="0" tIns="0" rIns="0" bIns="0" rtlCol="0" anchor="t">
            <a:spAutoFit/>
          </a:bodyPr>
          <a:lstStyle/>
          <a:p>
            <a:pPr algn="just">
              <a:lnSpc>
                <a:spcPts val="3219"/>
              </a:lnSpc>
              <a:spcBef>
                <a:spcPct val="0"/>
              </a:spcBef>
            </a:pPr>
            <a:r>
              <a:rPr lang="en-US" sz="2299">
                <a:solidFill>
                  <a:srgbClr val="FFFFFF"/>
                </a:solidFill>
                <a:latin typeface="Poppins"/>
                <a:ea typeface="Poppins"/>
                <a:cs typeface="Poppins"/>
                <a:sym typeface="Poppins"/>
              </a:rPr>
              <a:t>Sentiment Analysis is a branch of Natural Language Processing (NLP) that involves using computational techniques to determine the emotional tone, opinion, or attitude expressed in a piece of text. It classifies text data as positive, negative, or neutral, and can also measure the intensity of emotions or satisfaction levels.</a:t>
            </a:r>
          </a:p>
          <a:p>
            <a:pPr algn="just">
              <a:lnSpc>
                <a:spcPts val="3219"/>
              </a:lnSpc>
              <a:spcBef>
                <a:spcPct val="0"/>
              </a:spcBef>
            </a:pPr>
            <a:endParaRPr lang="en-US" sz="2299">
              <a:solidFill>
                <a:srgbClr val="FFFFFF"/>
              </a:solidFill>
              <a:latin typeface="Poppins"/>
              <a:ea typeface="Poppins"/>
              <a:cs typeface="Poppins"/>
              <a:sym typeface="Poppins"/>
            </a:endParaRPr>
          </a:p>
          <a:p>
            <a:pPr algn="just">
              <a:lnSpc>
                <a:spcPts val="3219"/>
              </a:lnSpc>
              <a:spcBef>
                <a:spcPct val="0"/>
              </a:spcBef>
            </a:pPr>
            <a:r>
              <a:rPr lang="en-US" sz="2299">
                <a:solidFill>
                  <a:srgbClr val="FFFFFF"/>
                </a:solidFill>
                <a:latin typeface="Poppins"/>
                <a:ea typeface="Poppins"/>
                <a:cs typeface="Poppins"/>
                <a:sym typeface="Poppins"/>
              </a:rPr>
              <a:t>In the context of this study, sentiment analysis is applied to patient reviews of the medication Abilify. These reviews contain valuable subjective information reflecting patients’ real experiences, including effectiveness, side effects, and emotional responses to treatment.</a:t>
            </a:r>
          </a:p>
          <a:p>
            <a:pPr algn="l">
              <a:lnSpc>
                <a:spcPts val="3219"/>
              </a:lnSpc>
              <a:spcBef>
                <a:spcPct val="0"/>
              </a:spcBef>
            </a:pPr>
            <a:endParaRPr lang="en-US" sz="2299">
              <a:solidFill>
                <a:srgbClr val="FFFFFF"/>
              </a:solidFill>
              <a:latin typeface="Poppins"/>
              <a:ea typeface="Poppins"/>
              <a:cs typeface="Poppins"/>
              <a:sym typeface="Poppins"/>
            </a:endParaRP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722342" y="672469"/>
            <a:ext cx="530888" cy="617312"/>
          </a:xfrm>
          <a:custGeom>
            <a:avLst/>
            <a:gdLst/>
            <a:ahLst/>
            <a:cxnLst/>
            <a:rect l="l" t="t" r="r" b="b"/>
            <a:pathLst>
              <a:path w="530888" h="617312">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694512" y="2520315"/>
            <a:ext cx="5961378" cy="6318882"/>
            <a:chOff x="0" y="0"/>
            <a:chExt cx="923573" cy="978960"/>
          </a:xfrm>
        </p:grpSpPr>
        <p:sp>
          <p:nvSpPr>
            <p:cNvPr id="8" name="Freeform 8"/>
            <p:cNvSpPr/>
            <p:nvPr/>
          </p:nvSpPr>
          <p:spPr>
            <a:xfrm>
              <a:off x="0" y="0"/>
              <a:ext cx="923573" cy="978960"/>
            </a:xfrm>
            <a:custGeom>
              <a:avLst/>
              <a:gdLst/>
              <a:ahLst/>
              <a:cxnLst/>
              <a:rect l="l" t="t" r="r" b="b"/>
              <a:pathLst>
                <a:path w="923573" h="978960">
                  <a:moveTo>
                    <a:pt x="103894" y="0"/>
                  </a:moveTo>
                  <a:lnTo>
                    <a:pt x="819679" y="0"/>
                  </a:lnTo>
                  <a:cubicBezTo>
                    <a:pt x="847233" y="0"/>
                    <a:pt x="873659" y="10946"/>
                    <a:pt x="893143" y="30430"/>
                  </a:cubicBezTo>
                  <a:cubicBezTo>
                    <a:pt x="912627" y="49914"/>
                    <a:pt x="923573" y="76340"/>
                    <a:pt x="923573" y="103894"/>
                  </a:cubicBezTo>
                  <a:lnTo>
                    <a:pt x="923573" y="875066"/>
                  </a:lnTo>
                  <a:cubicBezTo>
                    <a:pt x="923573" y="902620"/>
                    <a:pt x="912627" y="929046"/>
                    <a:pt x="893143" y="948530"/>
                  </a:cubicBezTo>
                  <a:cubicBezTo>
                    <a:pt x="873659" y="968014"/>
                    <a:pt x="847233" y="978960"/>
                    <a:pt x="819679" y="978960"/>
                  </a:cubicBezTo>
                  <a:lnTo>
                    <a:pt x="103894" y="978960"/>
                  </a:lnTo>
                  <a:cubicBezTo>
                    <a:pt x="76340" y="978960"/>
                    <a:pt x="49914" y="968014"/>
                    <a:pt x="30430" y="948530"/>
                  </a:cubicBezTo>
                  <a:cubicBezTo>
                    <a:pt x="10946" y="929046"/>
                    <a:pt x="0" y="902620"/>
                    <a:pt x="0" y="875066"/>
                  </a:cubicBezTo>
                  <a:lnTo>
                    <a:pt x="0" y="103894"/>
                  </a:lnTo>
                  <a:cubicBezTo>
                    <a:pt x="0" y="76340"/>
                    <a:pt x="10946" y="49914"/>
                    <a:pt x="30430" y="30430"/>
                  </a:cubicBezTo>
                  <a:cubicBezTo>
                    <a:pt x="49914" y="10946"/>
                    <a:pt x="76340" y="0"/>
                    <a:pt x="103894" y="0"/>
                  </a:cubicBezTo>
                  <a:close/>
                </a:path>
              </a:pathLst>
            </a:custGeom>
            <a:blipFill>
              <a:blip r:embed="rId5"/>
              <a:stretch>
                <a:fillRect l="-29398" r="-29398"/>
              </a:stretch>
            </a:blipFill>
            <a:ln w="323850" cap="rnd">
              <a:gradFill>
                <a:gsLst>
                  <a:gs pos="0">
                    <a:srgbClr val="00D1FF">
                      <a:alpha val="100000"/>
                    </a:srgbClr>
                  </a:gs>
                  <a:gs pos="100000">
                    <a:srgbClr val="001496">
                      <a:alpha val="100000"/>
                    </a:srgbClr>
                  </a:gs>
                </a:gsLst>
                <a:path path="circle">
                  <a:fillToRect r="100000" b="100000"/>
                </a:path>
                <a:tileRect l="-100000" t="-100000"/>
              </a:gradFill>
              <a:prstDash val="solid"/>
              <a:round/>
            </a:ln>
          </p:spPr>
        </p:sp>
      </p:grpSp>
      <p:sp>
        <p:nvSpPr>
          <p:cNvPr id="9" name="Freeform 9"/>
          <p:cNvSpPr/>
          <p:nvPr/>
        </p:nvSpPr>
        <p:spPr>
          <a:xfrm>
            <a:off x="8029515" y="-1031595"/>
            <a:ext cx="12370599" cy="1799360"/>
          </a:xfrm>
          <a:custGeom>
            <a:avLst/>
            <a:gdLst/>
            <a:ahLst/>
            <a:cxnLst/>
            <a:rect l="l" t="t" r="r" b="b"/>
            <a:pathLst>
              <a:path w="12370599" h="1799360">
                <a:moveTo>
                  <a:pt x="0" y="0"/>
                </a:moveTo>
                <a:lnTo>
                  <a:pt x="12370599" y="0"/>
                </a:lnTo>
                <a:lnTo>
                  <a:pt x="12370599" y="1799360"/>
                </a:lnTo>
                <a:lnTo>
                  <a:pt x="0" y="179936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4465286" y="7200900"/>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8">
              <a:alphaModFix amt="58000"/>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8094040" y="1457763"/>
            <a:ext cx="9366684" cy="1062552"/>
          </a:xfrm>
          <a:prstGeom prst="rect">
            <a:avLst/>
          </a:prstGeom>
        </p:spPr>
        <p:txBody>
          <a:bodyPr lIns="0" tIns="0" rIns="0" bIns="0" rtlCol="0" anchor="t">
            <a:spAutoFit/>
          </a:bodyPr>
          <a:lstStyle/>
          <a:p>
            <a:pPr algn="l">
              <a:lnSpc>
                <a:spcPts val="7582"/>
              </a:lnSpc>
            </a:pPr>
            <a:r>
              <a:rPr lang="en-US" sz="7290" b="1">
                <a:solidFill>
                  <a:srgbClr val="FFFFFF"/>
                </a:solidFill>
                <a:latin typeface="Poppins Bold"/>
                <a:ea typeface="Poppins Bold"/>
                <a:cs typeface="Poppins Bold"/>
                <a:sym typeface="Poppins Bold"/>
              </a:rPr>
              <a:t>Project Overview</a:t>
            </a:r>
          </a:p>
        </p:txBody>
      </p:sp>
      <p:sp>
        <p:nvSpPr>
          <p:cNvPr id="12" name="TextBox 12"/>
          <p:cNvSpPr txBox="1"/>
          <p:nvPr/>
        </p:nvSpPr>
        <p:spPr>
          <a:xfrm>
            <a:off x="8094040" y="3167577"/>
            <a:ext cx="9165260" cy="6282554"/>
          </a:xfrm>
          <a:prstGeom prst="rect">
            <a:avLst/>
          </a:prstGeom>
        </p:spPr>
        <p:txBody>
          <a:bodyPr lIns="0" tIns="0" rIns="0" bIns="0" rtlCol="0" anchor="t">
            <a:spAutoFit/>
          </a:bodyPr>
          <a:lstStyle/>
          <a:p>
            <a:pPr algn="just">
              <a:lnSpc>
                <a:spcPts val="4465"/>
              </a:lnSpc>
            </a:pPr>
            <a:r>
              <a:rPr lang="en-US" sz="2199" dirty="0">
                <a:solidFill>
                  <a:srgbClr val="FFFFFF"/>
                </a:solidFill>
                <a:latin typeface="Poppins"/>
                <a:ea typeface="Poppins"/>
                <a:cs typeface="Poppins"/>
                <a:sym typeface="Poppins"/>
              </a:rPr>
              <a:t>This project analyzes patient reviews of Abilify (aripiprazole), a medication used to treat mental health conditions like bipolar disorder, schizophrenia, and depression. We'll perform sentiment analysis to understand patient experiences and satisfaction levels.</a:t>
            </a:r>
          </a:p>
          <a:p>
            <a:pPr algn="just">
              <a:lnSpc>
                <a:spcPts val="4465"/>
              </a:lnSpc>
            </a:pPr>
            <a:endParaRPr lang="en-US" sz="2199" dirty="0">
              <a:solidFill>
                <a:srgbClr val="FFFFFF"/>
              </a:solidFill>
              <a:latin typeface="Poppins"/>
              <a:ea typeface="Poppins"/>
              <a:cs typeface="Poppins"/>
              <a:sym typeface="Poppins"/>
            </a:endParaRPr>
          </a:p>
          <a:p>
            <a:pPr algn="just">
              <a:lnSpc>
                <a:spcPts val="4465"/>
              </a:lnSpc>
            </a:pPr>
            <a:r>
              <a:rPr lang="en-US" sz="2199" b="1" dirty="0">
                <a:solidFill>
                  <a:srgbClr val="FFFFFF"/>
                </a:solidFill>
                <a:latin typeface="Poppins Bold"/>
                <a:ea typeface="Poppins Bold"/>
                <a:cs typeface="Poppins Bold"/>
                <a:sym typeface="Poppins Bold"/>
              </a:rPr>
              <a:t>Domain</a:t>
            </a:r>
            <a:r>
              <a:rPr lang="en-US" sz="2199" dirty="0">
                <a:solidFill>
                  <a:srgbClr val="FFFFFF"/>
                </a:solidFill>
                <a:latin typeface="Poppins"/>
                <a:ea typeface="Poppins"/>
                <a:cs typeface="Poppins"/>
                <a:sym typeface="Poppins"/>
              </a:rPr>
              <a:t>: Healthcare - Mental Health Medication Reviews </a:t>
            </a:r>
          </a:p>
          <a:p>
            <a:pPr algn="l">
              <a:lnSpc>
                <a:spcPts val="4465"/>
              </a:lnSpc>
            </a:pPr>
            <a:r>
              <a:rPr lang="en-US" sz="2199" b="1" dirty="0">
                <a:solidFill>
                  <a:srgbClr val="FFFFFF"/>
                </a:solidFill>
                <a:latin typeface="Poppins Bold"/>
                <a:ea typeface="Poppins Bold"/>
                <a:cs typeface="Poppins Bold"/>
                <a:sym typeface="Poppins Bold"/>
              </a:rPr>
              <a:t>Dataset</a:t>
            </a:r>
            <a:r>
              <a:rPr lang="en-US" sz="2199" dirty="0">
                <a:solidFill>
                  <a:srgbClr val="FFFFFF"/>
                </a:solidFill>
                <a:latin typeface="Poppins"/>
                <a:ea typeface="Poppins"/>
                <a:cs typeface="Poppins"/>
                <a:sym typeface="Poppins"/>
              </a:rPr>
              <a:t>: “</a:t>
            </a:r>
            <a:r>
              <a:rPr lang="en-US" sz="2199" u="sng" dirty="0">
                <a:solidFill>
                  <a:srgbClr val="FFFF00"/>
                </a:solidFill>
                <a:latin typeface="Poppins"/>
                <a:ea typeface="Poppins"/>
                <a:cs typeface="Poppins"/>
                <a:sym typeface="Poppins"/>
                <a:hlinkClick r:id="rId10" tooltip="https://github.com/newtonanguyi/BIG_DATA_TEST/blob/main/abilify_ora_effected_peple_reviewl.csv">
                  <a:extLst>
                    <a:ext uri="{A12FA001-AC4F-418D-AE19-62706E023703}">
                      <ahyp:hlinkClr xmlns:ahyp="http://schemas.microsoft.com/office/drawing/2018/hyperlinkcolor" val="tx"/>
                    </a:ext>
                  </a:extLst>
                </a:hlinkClick>
              </a:rPr>
              <a:t>abilify_ora_effected_peple_reviewl.csv</a:t>
            </a:r>
            <a:r>
              <a:rPr lang="en-US" sz="2199" dirty="0">
                <a:solidFill>
                  <a:srgbClr val="FFFFFF"/>
                </a:solidFill>
                <a:latin typeface="Poppins"/>
                <a:ea typeface="Poppins"/>
                <a:cs typeface="Poppins"/>
                <a:sym typeface="Poppins"/>
              </a:rPr>
              <a:t>” - Abilify patient reviews with ratings and text descriptions  </a:t>
            </a:r>
          </a:p>
          <a:p>
            <a:pPr algn="just">
              <a:lnSpc>
                <a:spcPts val="4465"/>
              </a:lnSpc>
            </a:pPr>
            <a:r>
              <a:rPr lang="en-US" sz="2199" b="1" dirty="0">
                <a:solidFill>
                  <a:srgbClr val="FFFFFF"/>
                </a:solidFill>
                <a:latin typeface="Poppins Bold"/>
                <a:ea typeface="Poppins Bold"/>
                <a:cs typeface="Poppins Bold"/>
                <a:sym typeface="Poppins Bold"/>
              </a:rPr>
              <a:t>Goal</a:t>
            </a:r>
            <a:r>
              <a:rPr lang="en-US" sz="2199" dirty="0">
                <a:solidFill>
                  <a:srgbClr val="FFFFFF"/>
                </a:solidFill>
                <a:latin typeface="Poppins"/>
                <a:ea typeface="Poppins"/>
                <a:cs typeface="Poppins"/>
                <a:sym typeface="Poppins"/>
              </a:rPr>
              <a:t>: Classify sentiment of patient reviews and analyze patterns</a:t>
            </a:r>
          </a:p>
          <a:p>
            <a:pPr algn="just">
              <a:lnSpc>
                <a:spcPts val="4465"/>
              </a:lnSpc>
            </a:pPr>
            <a:endParaRPr lang="en-US" sz="2199" dirty="0">
              <a:solidFill>
                <a:srgbClr val="FFFFFF"/>
              </a:solidFill>
              <a:latin typeface="Poppins"/>
              <a:ea typeface="Poppins"/>
              <a:cs typeface="Poppins"/>
              <a:sym typeface="Poppins"/>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9525"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722342" y="672469"/>
            <a:ext cx="530888" cy="617312"/>
          </a:xfrm>
          <a:custGeom>
            <a:avLst/>
            <a:gdLst/>
            <a:ahLst/>
            <a:cxnLst/>
            <a:rect l="l" t="t" r="r" b="b"/>
            <a:pathLst>
              <a:path w="530888" h="617312">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12507214" y="2031151"/>
            <a:ext cx="5389372" cy="6508903"/>
            <a:chOff x="0" y="0"/>
            <a:chExt cx="834955" cy="1008399"/>
          </a:xfrm>
        </p:grpSpPr>
        <p:sp>
          <p:nvSpPr>
            <p:cNvPr id="8" name="Freeform 8"/>
            <p:cNvSpPr/>
            <p:nvPr/>
          </p:nvSpPr>
          <p:spPr>
            <a:xfrm>
              <a:off x="0" y="0"/>
              <a:ext cx="834955" cy="1008399"/>
            </a:xfrm>
            <a:custGeom>
              <a:avLst/>
              <a:gdLst/>
              <a:ahLst/>
              <a:cxnLst/>
              <a:rect l="l" t="t" r="r" b="b"/>
              <a:pathLst>
                <a:path w="834955" h="1008399">
                  <a:moveTo>
                    <a:pt x="114921" y="0"/>
                  </a:moveTo>
                  <a:lnTo>
                    <a:pt x="720033" y="0"/>
                  </a:lnTo>
                  <a:cubicBezTo>
                    <a:pt x="750512" y="0"/>
                    <a:pt x="779743" y="12108"/>
                    <a:pt x="801295" y="33660"/>
                  </a:cubicBezTo>
                  <a:cubicBezTo>
                    <a:pt x="822847" y="55212"/>
                    <a:pt x="834955" y="84442"/>
                    <a:pt x="834955" y="114921"/>
                  </a:cubicBezTo>
                  <a:lnTo>
                    <a:pt x="834955" y="893478"/>
                  </a:lnTo>
                  <a:cubicBezTo>
                    <a:pt x="834955" y="956947"/>
                    <a:pt x="783503" y="1008399"/>
                    <a:pt x="720033" y="1008399"/>
                  </a:cubicBezTo>
                  <a:lnTo>
                    <a:pt x="114921" y="1008399"/>
                  </a:lnTo>
                  <a:cubicBezTo>
                    <a:pt x="84442" y="1008399"/>
                    <a:pt x="55212" y="996292"/>
                    <a:pt x="33660" y="974740"/>
                  </a:cubicBezTo>
                  <a:cubicBezTo>
                    <a:pt x="12108" y="953188"/>
                    <a:pt x="0" y="923957"/>
                    <a:pt x="0" y="893478"/>
                  </a:cubicBezTo>
                  <a:lnTo>
                    <a:pt x="0" y="114921"/>
                  </a:lnTo>
                  <a:cubicBezTo>
                    <a:pt x="0" y="84442"/>
                    <a:pt x="12108" y="55212"/>
                    <a:pt x="33660" y="33660"/>
                  </a:cubicBezTo>
                  <a:cubicBezTo>
                    <a:pt x="55212" y="12108"/>
                    <a:pt x="84442" y="0"/>
                    <a:pt x="114921" y="0"/>
                  </a:cubicBezTo>
                  <a:close/>
                </a:path>
              </a:pathLst>
            </a:custGeom>
            <a:blipFill>
              <a:blip r:embed="rId5"/>
              <a:stretch>
                <a:fillRect l="-91735" r="-2277"/>
              </a:stretch>
            </a:blipFill>
            <a:ln w="323850" cap="rnd">
              <a:gradFill>
                <a:gsLst>
                  <a:gs pos="0">
                    <a:srgbClr val="00D1FF">
                      <a:alpha val="100000"/>
                    </a:srgbClr>
                  </a:gs>
                  <a:gs pos="100000">
                    <a:srgbClr val="001496">
                      <a:alpha val="100000"/>
                    </a:srgbClr>
                  </a:gs>
                </a:gsLst>
                <a:path path="circle">
                  <a:fillToRect r="100000" b="100000"/>
                </a:path>
                <a:tileRect l="-100000" t="-100000"/>
              </a:gradFill>
              <a:prstDash val="solid"/>
              <a:round/>
            </a:ln>
          </p:spPr>
        </p:sp>
      </p:grpSp>
      <p:sp>
        <p:nvSpPr>
          <p:cNvPr id="9" name="Freeform 9"/>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sp>
        <p:nvSpPr>
          <p:cNvPr id="10" name="AutoShape 10"/>
          <p:cNvSpPr/>
          <p:nvPr/>
        </p:nvSpPr>
        <p:spPr>
          <a:xfrm>
            <a:off x="-515950" y="10026296"/>
            <a:ext cx="15717833" cy="19050"/>
          </a:xfrm>
          <a:prstGeom prst="line">
            <a:avLst/>
          </a:prstGeom>
          <a:ln w="28575" cap="flat">
            <a:solidFill>
              <a:srgbClr val="64DBFF"/>
            </a:solidFill>
            <a:prstDash val="solid"/>
            <a:headEnd type="none" w="sm" len="sm"/>
            <a:tailEnd type="none" w="sm" len="sm"/>
          </a:ln>
        </p:spPr>
      </p:sp>
      <p:grpSp>
        <p:nvGrpSpPr>
          <p:cNvPr id="11" name="Group 11"/>
          <p:cNvGrpSpPr/>
          <p:nvPr/>
        </p:nvGrpSpPr>
        <p:grpSpPr>
          <a:xfrm>
            <a:off x="15058899" y="9883295"/>
            <a:ext cx="286001" cy="28600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651077" y="520276"/>
            <a:ext cx="8487068" cy="950273"/>
          </a:xfrm>
          <a:prstGeom prst="rect">
            <a:avLst/>
          </a:prstGeom>
        </p:spPr>
        <p:txBody>
          <a:bodyPr lIns="0" tIns="0" rIns="0" bIns="0" rtlCol="0" anchor="t">
            <a:spAutoFit/>
          </a:bodyPr>
          <a:lstStyle/>
          <a:p>
            <a:pPr algn="l">
              <a:lnSpc>
                <a:spcPts val="6711"/>
              </a:lnSpc>
            </a:pPr>
            <a:r>
              <a:rPr lang="en-US" sz="6452" b="1">
                <a:solidFill>
                  <a:srgbClr val="FFFFFF"/>
                </a:solidFill>
                <a:latin typeface="Poppins Bold"/>
                <a:ea typeface="Poppins Bold"/>
                <a:cs typeface="Poppins Bold"/>
                <a:sym typeface="Poppins Bold"/>
              </a:rPr>
              <a:t>Background</a:t>
            </a:r>
          </a:p>
        </p:txBody>
      </p:sp>
      <p:sp>
        <p:nvSpPr>
          <p:cNvPr id="15" name="TextBox 15"/>
          <p:cNvSpPr txBox="1"/>
          <p:nvPr/>
        </p:nvSpPr>
        <p:spPr>
          <a:xfrm>
            <a:off x="1253230" y="1667500"/>
            <a:ext cx="10397038" cy="8042783"/>
          </a:xfrm>
          <a:prstGeom prst="rect">
            <a:avLst/>
          </a:prstGeom>
        </p:spPr>
        <p:txBody>
          <a:bodyPr lIns="0" tIns="0" rIns="0" bIns="0" rtlCol="0" anchor="t">
            <a:spAutoFit/>
          </a:bodyPr>
          <a:lstStyle/>
          <a:p>
            <a:pPr marL="474979" lvl="1" indent="-237490" algn="l">
              <a:lnSpc>
                <a:spcPts val="3585"/>
              </a:lnSpc>
              <a:buFont typeface="Arial"/>
              <a:buChar char="•"/>
            </a:pPr>
            <a:r>
              <a:rPr lang="en-US" sz="2199">
                <a:solidFill>
                  <a:srgbClr val="FFFFFF"/>
                </a:solidFill>
                <a:latin typeface="Poppins"/>
                <a:ea typeface="Poppins"/>
                <a:cs typeface="Poppins"/>
                <a:sym typeface="Poppins"/>
              </a:rPr>
              <a:t>The dataset titled “abilify_ora_effected_peple_reviewl.csv” contains 1,835 patient reviews sourced from reputable healthcare websites. It focuses on mental health medication, particularly patient experiences with Abilify, a drug widely prescribed for conditions such as depression, bipolar disorder, and schizophrenia.</a:t>
            </a:r>
          </a:p>
          <a:p>
            <a:pPr marL="474979" lvl="1" indent="-237490" algn="l">
              <a:lnSpc>
                <a:spcPts val="3585"/>
              </a:lnSpc>
              <a:buFont typeface="Arial"/>
              <a:buChar char="•"/>
            </a:pPr>
            <a:r>
              <a:rPr lang="en-US" sz="2199">
                <a:solidFill>
                  <a:srgbClr val="FFFFFF"/>
                </a:solidFill>
                <a:latin typeface="Poppins"/>
                <a:ea typeface="Poppins"/>
                <a:cs typeface="Poppins"/>
                <a:sym typeface="Poppins"/>
              </a:rPr>
              <a:t>This dataset provides a comprehensive blend of quantitative and qualitative information, including patient demographics (age and gender), medical conditions treated, duration of medication use, overall satisfaction ratings, and detailed text-based reviews. Such diversity in features enables both statistical and linguistic analysis of patient feedback.</a:t>
            </a:r>
          </a:p>
          <a:p>
            <a:pPr marL="474979" lvl="1" indent="-237490" algn="l">
              <a:lnSpc>
                <a:spcPts val="3585"/>
              </a:lnSpc>
              <a:buFont typeface="Arial"/>
              <a:buChar char="•"/>
            </a:pPr>
            <a:r>
              <a:rPr lang="en-US" sz="2199">
                <a:solidFill>
                  <a:srgbClr val="FFFFFF"/>
                </a:solidFill>
                <a:latin typeface="Poppins"/>
                <a:ea typeface="Poppins"/>
                <a:cs typeface="Poppins"/>
                <a:sym typeface="Poppins"/>
              </a:rPr>
              <a:t>The dataset was chosen for its strong relevance to healthcare sentiment analysis, offering valuable insights into how patients perceive the effectiveness and side effects of psychiatric medication. It presents a realistic context for exploring emotional patterns, treatment satisfaction, and experience trends across different patient groups and medication durations.</a:t>
            </a:r>
          </a:p>
          <a:p>
            <a:pPr algn="l">
              <a:lnSpc>
                <a:spcPts val="3585"/>
              </a:lnSpc>
            </a:pPr>
            <a:endParaRPr lang="en-US" sz="2199">
              <a:solidFill>
                <a:srgbClr val="FFFFFF"/>
              </a:solidFill>
              <a:latin typeface="Poppins"/>
              <a:ea typeface="Poppins"/>
              <a:cs typeface="Poppins"/>
              <a:sym typeface="Poppins"/>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905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Freeform 6"/>
          <p:cNvSpPr/>
          <p:nvPr/>
        </p:nvSpPr>
        <p:spPr>
          <a:xfrm>
            <a:off x="722342" y="672469"/>
            <a:ext cx="530888" cy="617312"/>
          </a:xfrm>
          <a:custGeom>
            <a:avLst/>
            <a:gdLst/>
            <a:ahLst/>
            <a:cxnLst/>
            <a:rect l="l" t="t" r="r" b="b"/>
            <a:pathLst>
              <a:path w="530888" h="617312">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3246616" y="2748466"/>
            <a:ext cx="5902319" cy="5902319"/>
          </a:xfrm>
          <a:custGeom>
            <a:avLst/>
            <a:gdLst/>
            <a:ahLst/>
            <a:cxnLst/>
            <a:rect l="l" t="t" r="r" b="b"/>
            <a:pathLst>
              <a:path w="5902319" h="5902319">
                <a:moveTo>
                  <a:pt x="0" y="0"/>
                </a:moveTo>
                <a:lnTo>
                  <a:pt x="5902320" y="0"/>
                </a:lnTo>
                <a:lnTo>
                  <a:pt x="5902320" y="5902319"/>
                </a:lnTo>
                <a:lnTo>
                  <a:pt x="0" y="590231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671369" y="449553"/>
            <a:ext cx="11575247" cy="1205920"/>
          </a:xfrm>
          <a:prstGeom prst="rect">
            <a:avLst/>
          </a:prstGeom>
        </p:spPr>
        <p:txBody>
          <a:bodyPr lIns="0" tIns="0" rIns="0" bIns="0" rtlCol="0" anchor="t">
            <a:spAutoFit/>
          </a:bodyPr>
          <a:lstStyle/>
          <a:p>
            <a:pPr algn="l">
              <a:lnSpc>
                <a:spcPts val="8582"/>
              </a:lnSpc>
            </a:pPr>
            <a:r>
              <a:rPr lang="en-US" sz="8252" b="1">
                <a:solidFill>
                  <a:srgbClr val="FFFFFF"/>
                </a:solidFill>
                <a:latin typeface="Poppins Bold"/>
                <a:ea typeface="Poppins Bold"/>
                <a:cs typeface="Poppins Bold"/>
                <a:sym typeface="Poppins Bold"/>
              </a:rPr>
              <a:t>Research Questions</a:t>
            </a:r>
          </a:p>
        </p:txBody>
      </p:sp>
      <p:sp>
        <p:nvSpPr>
          <p:cNvPr id="9" name="TextBox 9"/>
          <p:cNvSpPr txBox="1"/>
          <p:nvPr/>
        </p:nvSpPr>
        <p:spPr>
          <a:xfrm>
            <a:off x="1671369" y="1872414"/>
            <a:ext cx="12722747" cy="8276082"/>
          </a:xfrm>
          <a:prstGeom prst="rect">
            <a:avLst/>
          </a:prstGeom>
        </p:spPr>
        <p:txBody>
          <a:bodyPr lIns="0" tIns="0" rIns="0" bIns="0" rtlCol="0" anchor="t">
            <a:spAutoFit/>
          </a:bodyPr>
          <a:lstStyle/>
          <a:p>
            <a:pPr algn="l">
              <a:lnSpc>
                <a:spcPts val="2849"/>
              </a:lnSpc>
            </a:pPr>
            <a:r>
              <a:rPr lang="en-US" sz="2499">
                <a:solidFill>
                  <a:srgbClr val="FFFFFF"/>
                </a:solidFill>
                <a:latin typeface="Poppins"/>
                <a:ea typeface="Poppins"/>
                <a:cs typeface="Poppins"/>
                <a:sym typeface="Poppins"/>
              </a:rPr>
              <a:t> </a:t>
            </a:r>
            <a:r>
              <a:rPr lang="en-US" sz="2499" b="1">
                <a:solidFill>
                  <a:srgbClr val="FF5757"/>
                </a:solidFill>
                <a:latin typeface="Poppins Bold"/>
                <a:ea typeface="Poppins Bold"/>
                <a:cs typeface="Poppins Bold"/>
                <a:sym typeface="Poppins Bold"/>
              </a:rPr>
              <a:t>Primary Research Questions:</a:t>
            </a:r>
          </a:p>
          <a:p>
            <a:pPr algn="l">
              <a:lnSpc>
                <a:spcPts val="2507"/>
              </a:lnSpc>
            </a:pPr>
            <a:endParaRPr lang="en-US" sz="2499" b="1">
              <a:solidFill>
                <a:srgbClr val="FF5757"/>
              </a:solidFill>
              <a:latin typeface="Poppins Bold"/>
              <a:ea typeface="Poppins Bold"/>
              <a:cs typeface="Poppins Bold"/>
              <a:sym typeface="Poppins Bold"/>
            </a:endParaRPr>
          </a:p>
          <a:p>
            <a:pPr algn="l">
              <a:lnSpc>
                <a:spcPts val="2507"/>
              </a:lnSpc>
            </a:pPr>
            <a:r>
              <a:rPr lang="en-US" sz="2199">
                <a:solidFill>
                  <a:srgbClr val="FFFFFF"/>
                </a:solidFill>
                <a:latin typeface="Poppins"/>
                <a:ea typeface="Poppins"/>
                <a:cs typeface="Poppins"/>
                <a:sym typeface="Poppins"/>
              </a:rPr>
              <a:t>1. </a:t>
            </a:r>
            <a:r>
              <a:rPr lang="en-US" sz="2199" b="1">
                <a:solidFill>
                  <a:srgbClr val="10D3F9"/>
                </a:solidFill>
                <a:latin typeface="Poppins Bold"/>
                <a:ea typeface="Poppins Bold"/>
                <a:cs typeface="Poppins Bold"/>
                <a:sym typeface="Poppins Bold"/>
              </a:rPr>
              <a:t>What is the overall sentiment distribution of Abilify patient reviews?</a:t>
            </a:r>
          </a:p>
          <a:p>
            <a:pPr algn="l">
              <a:lnSpc>
                <a:spcPts val="2507"/>
              </a:lnSpc>
            </a:pPr>
            <a:r>
              <a:rPr lang="en-US" sz="2199">
                <a:solidFill>
                  <a:srgbClr val="FFFFFF"/>
                </a:solidFill>
                <a:latin typeface="Poppins"/>
                <a:ea typeface="Poppins"/>
                <a:cs typeface="Poppins"/>
                <a:sym typeface="Poppins"/>
              </a:rPr>
              <a:t>  - Are patients generally positive, negative, or neutral about their experience?</a:t>
            </a:r>
          </a:p>
          <a:p>
            <a:pPr algn="l">
              <a:lnSpc>
                <a:spcPts val="2507"/>
              </a:lnSpc>
            </a:pPr>
            <a:endParaRPr lang="en-US" sz="2199">
              <a:solidFill>
                <a:srgbClr val="FFFFFF"/>
              </a:solidFill>
              <a:latin typeface="Poppins"/>
              <a:ea typeface="Poppins"/>
              <a:cs typeface="Poppins"/>
              <a:sym typeface="Poppins"/>
            </a:endParaRPr>
          </a:p>
          <a:p>
            <a:pPr algn="l">
              <a:lnSpc>
                <a:spcPts val="2507"/>
              </a:lnSpc>
            </a:pPr>
            <a:r>
              <a:rPr lang="en-US" sz="2199">
                <a:solidFill>
                  <a:srgbClr val="FFFFFF"/>
                </a:solidFill>
                <a:latin typeface="Poppins"/>
                <a:ea typeface="Poppins"/>
                <a:cs typeface="Poppins"/>
                <a:sym typeface="Poppins"/>
              </a:rPr>
              <a:t>2. </a:t>
            </a:r>
            <a:r>
              <a:rPr lang="en-US" sz="2199" b="1">
                <a:solidFill>
                  <a:srgbClr val="10D3F9"/>
                </a:solidFill>
                <a:latin typeface="Poppins Bold"/>
                <a:ea typeface="Poppins Bold"/>
                <a:cs typeface="Poppins Bold"/>
                <a:sym typeface="Poppins Bold"/>
              </a:rPr>
              <a:t>How does sentiment vary across different medical conditions?</a:t>
            </a:r>
          </a:p>
          <a:p>
            <a:pPr algn="l">
              <a:lnSpc>
                <a:spcPts val="2507"/>
              </a:lnSpc>
            </a:pPr>
            <a:r>
              <a:rPr lang="en-US" sz="2199">
                <a:solidFill>
                  <a:srgbClr val="FFFFFF"/>
                </a:solidFill>
                <a:latin typeface="Poppins"/>
                <a:ea typeface="Poppins"/>
                <a:cs typeface="Poppins"/>
                <a:sym typeface="Poppins"/>
              </a:rPr>
              <a:t>  - Do patients with bipolar disorder have different sentiment patterns than those with schizophrenia or depression?</a:t>
            </a:r>
          </a:p>
          <a:p>
            <a:pPr algn="l">
              <a:lnSpc>
                <a:spcPts val="2507"/>
              </a:lnSpc>
            </a:pPr>
            <a:endParaRPr lang="en-US" sz="2199">
              <a:solidFill>
                <a:srgbClr val="FFFFFF"/>
              </a:solidFill>
              <a:latin typeface="Poppins"/>
              <a:ea typeface="Poppins"/>
              <a:cs typeface="Poppins"/>
              <a:sym typeface="Poppins"/>
            </a:endParaRPr>
          </a:p>
          <a:p>
            <a:pPr algn="l">
              <a:lnSpc>
                <a:spcPts val="2507"/>
              </a:lnSpc>
            </a:pPr>
            <a:r>
              <a:rPr lang="en-US" sz="2199">
                <a:solidFill>
                  <a:srgbClr val="FFFFFF"/>
                </a:solidFill>
                <a:latin typeface="Poppins"/>
                <a:ea typeface="Poppins"/>
                <a:cs typeface="Poppins"/>
                <a:sym typeface="Poppins"/>
              </a:rPr>
              <a:t>3. </a:t>
            </a:r>
            <a:r>
              <a:rPr lang="en-US" sz="2199" b="1">
                <a:solidFill>
                  <a:srgbClr val="10D3F9"/>
                </a:solidFill>
                <a:latin typeface="Poppins Bold"/>
                <a:ea typeface="Poppins Bold"/>
                <a:cs typeface="Poppins Bold"/>
                <a:sym typeface="Poppins Bold"/>
              </a:rPr>
              <a:t>What is the relationship between treatment duration and sentiment?</a:t>
            </a:r>
          </a:p>
          <a:p>
            <a:pPr algn="l">
              <a:lnSpc>
                <a:spcPts val="2507"/>
              </a:lnSpc>
            </a:pPr>
            <a:r>
              <a:rPr lang="en-US" sz="2199">
                <a:solidFill>
                  <a:srgbClr val="FFFFFF"/>
                </a:solidFill>
                <a:latin typeface="Poppins"/>
                <a:ea typeface="Poppins"/>
                <a:cs typeface="Poppins"/>
                <a:sym typeface="Poppins"/>
              </a:rPr>
              <a:t>  - Do patients who have taken Abilify longer express different sentiments than short-term users?</a:t>
            </a:r>
          </a:p>
          <a:p>
            <a:pPr algn="l">
              <a:lnSpc>
                <a:spcPts val="2507"/>
              </a:lnSpc>
            </a:pPr>
            <a:endParaRPr lang="en-US" sz="2199">
              <a:solidFill>
                <a:srgbClr val="FFFFFF"/>
              </a:solidFill>
              <a:latin typeface="Poppins"/>
              <a:ea typeface="Poppins"/>
              <a:cs typeface="Poppins"/>
              <a:sym typeface="Poppins"/>
            </a:endParaRPr>
          </a:p>
          <a:p>
            <a:pPr algn="l">
              <a:lnSpc>
                <a:spcPts val="2507"/>
              </a:lnSpc>
            </a:pPr>
            <a:r>
              <a:rPr lang="en-US" sz="2199">
                <a:solidFill>
                  <a:srgbClr val="FFFFFF"/>
                </a:solidFill>
                <a:latin typeface="Poppins"/>
                <a:ea typeface="Poppins"/>
                <a:cs typeface="Poppins"/>
                <a:sym typeface="Poppins"/>
              </a:rPr>
              <a:t>4. </a:t>
            </a:r>
            <a:r>
              <a:rPr lang="en-US" sz="2199" b="1">
                <a:solidFill>
                  <a:srgbClr val="10D3F9"/>
                </a:solidFill>
                <a:latin typeface="Poppins Bold"/>
                <a:ea typeface="Poppins Bold"/>
                <a:cs typeface="Poppins Bold"/>
                <a:sym typeface="Poppins Bold"/>
              </a:rPr>
              <a:t>How do demographic factors (age, gender) influence sentiment?</a:t>
            </a:r>
          </a:p>
          <a:p>
            <a:pPr algn="l">
              <a:lnSpc>
                <a:spcPts val="2507"/>
              </a:lnSpc>
            </a:pPr>
            <a:r>
              <a:rPr lang="en-US" sz="2199">
                <a:solidFill>
                  <a:srgbClr val="FFFFFF"/>
                </a:solidFill>
                <a:latin typeface="Poppins"/>
                <a:ea typeface="Poppins"/>
                <a:cs typeface="Poppins"/>
                <a:sym typeface="Poppins"/>
              </a:rPr>
              <a:t>  - Are there differences in sentiment between age groups or genders?</a:t>
            </a:r>
          </a:p>
          <a:p>
            <a:pPr algn="l">
              <a:lnSpc>
                <a:spcPts val="2507"/>
              </a:lnSpc>
            </a:pPr>
            <a:endParaRPr lang="en-US" sz="2199">
              <a:solidFill>
                <a:srgbClr val="FFFFFF"/>
              </a:solidFill>
              <a:latin typeface="Poppins"/>
              <a:ea typeface="Poppins"/>
              <a:cs typeface="Poppins"/>
              <a:sym typeface="Poppins"/>
            </a:endParaRPr>
          </a:p>
          <a:p>
            <a:pPr algn="l">
              <a:lnSpc>
                <a:spcPts val="2507"/>
              </a:lnSpc>
            </a:pPr>
            <a:r>
              <a:rPr lang="en-US" sz="2199">
                <a:solidFill>
                  <a:srgbClr val="FFFFFF"/>
                </a:solidFill>
                <a:latin typeface="Poppins"/>
                <a:ea typeface="Poppins"/>
                <a:cs typeface="Poppins"/>
                <a:sym typeface="Poppins"/>
              </a:rPr>
              <a:t>5. </a:t>
            </a:r>
            <a:r>
              <a:rPr lang="en-US" sz="2199" b="1">
                <a:solidFill>
                  <a:srgbClr val="10D3F9"/>
                </a:solidFill>
                <a:latin typeface="Poppins Bold"/>
                <a:ea typeface="Poppins Bold"/>
                <a:cs typeface="Poppins Bold"/>
                <a:sym typeface="Poppins Bold"/>
              </a:rPr>
              <a:t>What are the most common positive and negative themes in patient reviews?</a:t>
            </a:r>
          </a:p>
          <a:p>
            <a:pPr algn="l">
              <a:lnSpc>
                <a:spcPts val="2507"/>
              </a:lnSpc>
            </a:pPr>
            <a:r>
              <a:rPr lang="en-US" sz="2199">
                <a:solidFill>
                  <a:srgbClr val="FFFFFF"/>
                </a:solidFill>
                <a:latin typeface="Poppins"/>
                <a:ea typeface="Poppins"/>
                <a:cs typeface="Poppins"/>
                <a:sym typeface="Poppins"/>
              </a:rPr>
              <a:t>  - What specific aspects of the medication do patients praise or criticize?</a:t>
            </a:r>
          </a:p>
          <a:p>
            <a:pPr algn="l">
              <a:lnSpc>
                <a:spcPts val="2507"/>
              </a:lnSpc>
            </a:pPr>
            <a:endParaRPr lang="en-US" sz="2199">
              <a:solidFill>
                <a:srgbClr val="FFFFFF"/>
              </a:solidFill>
              <a:latin typeface="Poppins"/>
              <a:ea typeface="Poppins"/>
              <a:cs typeface="Poppins"/>
              <a:sym typeface="Poppins"/>
            </a:endParaRPr>
          </a:p>
          <a:p>
            <a:pPr algn="l">
              <a:lnSpc>
                <a:spcPts val="2849"/>
              </a:lnSpc>
            </a:pPr>
            <a:r>
              <a:rPr lang="en-US" sz="2499" b="1">
                <a:solidFill>
                  <a:srgbClr val="FF5757"/>
                </a:solidFill>
                <a:latin typeface="Poppins Bold"/>
                <a:ea typeface="Poppins Bold"/>
                <a:cs typeface="Poppins Bold"/>
                <a:sym typeface="Poppins Bold"/>
              </a:rPr>
              <a:t>Secondary Research Questions:</a:t>
            </a:r>
          </a:p>
          <a:p>
            <a:pPr algn="l">
              <a:lnSpc>
                <a:spcPts val="2507"/>
              </a:lnSpc>
            </a:pPr>
            <a:endParaRPr lang="en-US" sz="2499" b="1">
              <a:solidFill>
                <a:srgbClr val="FF5757"/>
              </a:solidFill>
              <a:latin typeface="Poppins Bold"/>
              <a:ea typeface="Poppins Bold"/>
              <a:cs typeface="Poppins Bold"/>
              <a:sym typeface="Poppins Bold"/>
            </a:endParaRPr>
          </a:p>
          <a:p>
            <a:pPr algn="l">
              <a:lnSpc>
                <a:spcPts val="2507"/>
              </a:lnSpc>
            </a:pPr>
            <a:r>
              <a:rPr lang="en-US" sz="2199">
                <a:solidFill>
                  <a:srgbClr val="FFFFFF"/>
                </a:solidFill>
                <a:latin typeface="Poppins"/>
                <a:ea typeface="Poppins"/>
                <a:cs typeface="Poppins"/>
                <a:sym typeface="Poppins"/>
              </a:rPr>
              <a:t>6. </a:t>
            </a:r>
            <a:r>
              <a:rPr lang="en-US" sz="2199" b="1">
                <a:solidFill>
                  <a:srgbClr val="10D3F9"/>
                </a:solidFill>
                <a:latin typeface="Poppins Bold"/>
                <a:ea typeface="Poppins Bold"/>
                <a:cs typeface="Poppins Bold"/>
                <a:sym typeface="Poppins Bold"/>
              </a:rPr>
              <a:t>Can we accurately predict sentiment from review text using machine learning?</a:t>
            </a:r>
          </a:p>
          <a:p>
            <a:pPr algn="l">
              <a:lnSpc>
                <a:spcPts val="2507"/>
              </a:lnSpc>
            </a:pPr>
            <a:r>
              <a:rPr lang="en-US" sz="2199">
                <a:solidFill>
                  <a:srgbClr val="FFFFFF"/>
                </a:solidFill>
                <a:latin typeface="Poppins"/>
                <a:ea typeface="Poppins"/>
                <a:cs typeface="Poppins"/>
                <a:sym typeface="Poppins"/>
              </a:rPr>
              <a:t>7. </a:t>
            </a:r>
            <a:r>
              <a:rPr lang="en-US" sz="2199" b="1">
                <a:solidFill>
                  <a:srgbClr val="10D3F9"/>
                </a:solidFill>
                <a:latin typeface="Poppins Bold"/>
                <a:ea typeface="Poppins Bold"/>
                <a:cs typeface="Poppins Bold"/>
                <a:sym typeface="Poppins Bold"/>
              </a:rPr>
              <a:t>What keywords or phrases are most indicative of positive vs negative sentiment?</a:t>
            </a:r>
          </a:p>
          <a:p>
            <a:pPr algn="l">
              <a:lnSpc>
                <a:spcPts val="2507"/>
              </a:lnSpc>
            </a:pPr>
            <a:r>
              <a:rPr lang="en-US" sz="2199">
                <a:solidFill>
                  <a:srgbClr val="FFFFFF"/>
                </a:solidFill>
                <a:latin typeface="Poppins"/>
                <a:ea typeface="Poppins"/>
                <a:cs typeface="Poppins"/>
                <a:sym typeface="Poppins"/>
              </a:rPr>
              <a:t>8. </a:t>
            </a:r>
            <a:r>
              <a:rPr lang="en-US" sz="2199" b="1">
                <a:solidFill>
                  <a:srgbClr val="10D3F9"/>
                </a:solidFill>
                <a:latin typeface="Poppins Bold"/>
                <a:ea typeface="Poppins Bold"/>
                <a:cs typeface="Poppins Bold"/>
                <a:sym typeface="Poppins Bold"/>
              </a:rPr>
              <a:t>How well do numerical ratings correlate with text-based sentiment analysis?</a:t>
            </a:r>
          </a:p>
          <a:p>
            <a:pPr algn="l">
              <a:lnSpc>
                <a:spcPts val="2507"/>
              </a:lnSpc>
            </a:pPr>
            <a:endParaRPr lang="en-US" sz="2199" b="1">
              <a:solidFill>
                <a:srgbClr val="10D3F9"/>
              </a:solidFill>
              <a:latin typeface="Poppins Bold"/>
              <a:ea typeface="Poppins Bold"/>
              <a:cs typeface="Poppins Bold"/>
              <a:sym typeface="Poppins Bold"/>
            </a:endParaRPr>
          </a:p>
          <a:p>
            <a:pPr algn="l">
              <a:lnSpc>
                <a:spcPts val="2507"/>
              </a:lnSpc>
            </a:pPr>
            <a:endParaRPr lang="en-US" sz="2199" b="1">
              <a:solidFill>
                <a:srgbClr val="10D3F9"/>
              </a:solidFill>
              <a:latin typeface="Poppins Bold"/>
              <a:ea typeface="Poppins Bold"/>
              <a:cs typeface="Poppins Bold"/>
              <a:sym typeface="Poppins Bold"/>
            </a:endParaRPr>
          </a:p>
        </p:txBody>
      </p:sp>
      <p:sp>
        <p:nvSpPr>
          <p:cNvPr id="10" name="AutoShape 10"/>
          <p:cNvSpPr/>
          <p:nvPr/>
        </p:nvSpPr>
        <p:spPr>
          <a:xfrm>
            <a:off x="-1323716" y="9805568"/>
            <a:ext cx="15717833" cy="19050"/>
          </a:xfrm>
          <a:prstGeom prst="line">
            <a:avLst/>
          </a:prstGeom>
          <a:ln w="28575" cap="flat">
            <a:solidFill>
              <a:srgbClr val="64DBFF"/>
            </a:solidFill>
            <a:prstDash val="solid"/>
            <a:headEnd type="none" w="sm" len="sm"/>
            <a:tailEnd type="none" w="sm" len="sm"/>
          </a:ln>
        </p:spPr>
      </p:sp>
      <p:grpSp>
        <p:nvGrpSpPr>
          <p:cNvPr id="11" name="Group 11"/>
          <p:cNvGrpSpPr/>
          <p:nvPr/>
        </p:nvGrpSpPr>
        <p:grpSpPr>
          <a:xfrm>
            <a:off x="14251116" y="9662568"/>
            <a:ext cx="286001" cy="28600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7">
              <a:alphaModFix amt="58000"/>
              <a:extLst>
                <a:ext uri="{96DAC541-7B7A-43D3-8B79-37D633B846F1}">
                  <asvg:svgBlip xmlns:asvg="http://schemas.microsoft.com/office/drawing/2016/SVG/main" r:embed="rId8"/>
                </a:ext>
              </a:extLst>
            </a:blip>
            <a:stretch>
              <a:fillRect/>
            </a:stretch>
          </a:blipFill>
        </p:spPr>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Freeform 6"/>
          <p:cNvSpPr/>
          <p:nvPr/>
        </p:nvSpPr>
        <p:spPr>
          <a:xfrm>
            <a:off x="722342" y="672469"/>
            <a:ext cx="530888" cy="617312"/>
          </a:xfrm>
          <a:custGeom>
            <a:avLst/>
            <a:gdLst/>
            <a:ahLst/>
            <a:cxnLst/>
            <a:rect l="l" t="t" r="r" b="b"/>
            <a:pathLst>
              <a:path w="530888" h="617312">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0946975" y="2175823"/>
            <a:ext cx="5902319" cy="5902319"/>
          </a:xfrm>
          <a:custGeom>
            <a:avLst/>
            <a:gdLst/>
            <a:ahLst/>
            <a:cxnLst/>
            <a:rect l="l" t="t" r="r" b="b"/>
            <a:pathLst>
              <a:path w="5902319" h="5902319">
                <a:moveTo>
                  <a:pt x="0" y="0"/>
                </a:moveTo>
                <a:lnTo>
                  <a:pt x="5902320" y="0"/>
                </a:lnTo>
                <a:lnTo>
                  <a:pt x="5902320" y="5902320"/>
                </a:lnTo>
                <a:lnTo>
                  <a:pt x="0" y="590232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AutoShape 8"/>
          <p:cNvSpPr/>
          <p:nvPr/>
        </p:nvSpPr>
        <p:spPr>
          <a:xfrm>
            <a:off x="-1323699" y="9239250"/>
            <a:ext cx="15717833" cy="19050"/>
          </a:xfrm>
          <a:prstGeom prst="line">
            <a:avLst/>
          </a:prstGeom>
          <a:ln w="28575" cap="flat">
            <a:solidFill>
              <a:srgbClr val="64DBFF"/>
            </a:solidFill>
            <a:prstDash val="solid"/>
            <a:headEnd type="none" w="sm" len="sm"/>
            <a:tailEnd type="none" w="sm" len="sm"/>
          </a:ln>
        </p:spPr>
      </p:sp>
      <p:grpSp>
        <p:nvGrpSpPr>
          <p:cNvPr id="9" name="Group 9"/>
          <p:cNvGrpSpPr/>
          <p:nvPr/>
        </p:nvGrpSpPr>
        <p:grpSpPr>
          <a:xfrm>
            <a:off x="14251134" y="9096249"/>
            <a:ext cx="286001" cy="28600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7">
              <a:alphaModFix amt="58000"/>
              <a:extLst>
                <a:ext uri="{96DAC541-7B7A-43D3-8B79-37D633B846F1}">
                  <asvg:svgBlip xmlns:asvg="http://schemas.microsoft.com/office/drawing/2016/SVG/main" r:embed="rId8"/>
                </a:ext>
              </a:extLst>
            </a:blip>
            <a:stretch>
              <a:fillRect/>
            </a:stretch>
          </a:blipFill>
        </p:spPr>
      </p:sp>
      <p:sp>
        <p:nvSpPr>
          <p:cNvPr id="13" name="Freeform 13"/>
          <p:cNvSpPr/>
          <p:nvPr/>
        </p:nvSpPr>
        <p:spPr>
          <a:xfrm>
            <a:off x="11214694" y="0"/>
            <a:ext cx="7073306" cy="4996549"/>
          </a:xfrm>
          <a:custGeom>
            <a:avLst/>
            <a:gdLst/>
            <a:ahLst/>
            <a:cxnLst/>
            <a:rect l="l" t="t" r="r" b="b"/>
            <a:pathLst>
              <a:path w="7073306" h="4996549">
                <a:moveTo>
                  <a:pt x="0" y="0"/>
                </a:moveTo>
                <a:lnTo>
                  <a:pt x="7073306" y="0"/>
                </a:lnTo>
                <a:lnTo>
                  <a:pt x="7073306" y="4996549"/>
                </a:lnTo>
                <a:lnTo>
                  <a:pt x="0" y="4996549"/>
                </a:lnTo>
                <a:lnTo>
                  <a:pt x="0" y="0"/>
                </a:lnTo>
                <a:close/>
              </a:path>
            </a:pathLst>
          </a:custGeom>
          <a:blipFill>
            <a:blip r:embed="rId9"/>
            <a:stretch>
              <a:fillRect l="-6373" b="-12688"/>
            </a:stretch>
          </a:blipFill>
        </p:spPr>
      </p:sp>
      <p:sp>
        <p:nvSpPr>
          <p:cNvPr id="14" name="Freeform 14"/>
          <p:cNvSpPr/>
          <p:nvPr/>
        </p:nvSpPr>
        <p:spPr>
          <a:xfrm>
            <a:off x="11214694" y="4996549"/>
            <a:ext cx="5464137" cy="5290451"/>
          </a:xfrm>
          <a:custGeom>
            <a:avLst/>
            <a:gdLst/>
            <a:ahLst/>
            <a:cxnLst/>
            <a:rect l="l" t="t" r="r" b="b"/>
            <a:pathLst>
              <a:path w="5464137" h="5290451">
                <a:moveTo>
                  <a:pt x="0" y="0"/>
                </a:moveTo>
                <a:lnTo>
                  <a:pt x="5464137" y="0"/>
                </a:lnTo>
                <a:lnTo>
                  <a:pt x="5464137" y="5290451"/>
                </a:lnTo>
                <a:lnTo>
                  <a:pt x="0" y="5290451"/>
                </a:lnTo>
                <a:lnTo>
                  <a:pt x="0" y="0"/>
                </a:lnTo>
                <a:close/>
              </a:path>
            </a:pathLst>
          </a:custGeom>
          <a:blipFill>
            <a:blip r:embed="rId10"/>
            <a:stretch>
              <a:fillRect r="-5151"/>
            </a:stretch>
          </a:blipFill>
        </p:spPr>
      </p:sp>
      <p:grpSp>
        <p:nvGrpSpPr>
          <p:cNvPr id="15" name="Group 15"/>
          <p:cNvGrpSpPr/>
          <p:nvPr/>
        </p:nvGrpSpPr>
        <p:grpSpPr>
          <a:xfrm>
            <a:off x="16678831" y="4992043"/>
            <a:ext cx="1609169" cy="5294957"/>
            <a:chOff x="0" y="0"/>
            <a:chExt cx="423814" cy="1394557"/>
          </a:xfrm>
        </p:grpSpPr>
        <p:sp>
          <p:nvSpPr>
            <p:cNvPr id="16" name="Freeform 16"/>
            <p:cNvSpPr/>
            <p:nvPr/>
          </p:nvSpPr>
          <p:spPr>
            <a:xfrm>
              <a:off x="0" y="0"/>
              <a:ext cx="423814" cy="1394557"/>
            </a:xfrm>
            <a:custGeom>
              <a:avLst/>
              <a:gdLst/>
              <a:ahLst/>
              <a:cxnLst/>
              <a:rect l="l" t="t" r="r" b="b"/>
              <a:pathLst>
                <a:path w="423814" h="1394557">
                  <a:moveTo>
                    <a:pt x="0" y="0"/>
                  </a:moveTo>
                  <a:lnTo>
                    <a:pt x="423814" y="0"/>
                  </a:lnTo>
                  <a:lnTo>
                    <a:pt x="423814" y="1394557"/>
                  </a:lnTo>
                  <a:lnTo>
                    <a:pt x="0" y="1394557"/>
                  </a:lnTo>
                  <a:close/>
                </a:path>
              </a:pathLst>
            </a:custGeom>
            <a:solidFill>
              <a:srgbClr val="FFFFFF"/>
            </a:solidFill>
          </p:spPr>
        </p:sp>
        <p:sp>
          <p:nvSpPr>
            <p:cNvPr id="17" name="TextBox 17"/>
            <p:cNvSpPr txBox="1"/>
            <p:nvPr/>
          </p:nvSpPr>
          <p:spPr>
            <a:xfrm>
              <a:off x="0" y="-38100"/>
              <a:ext cx="423814" cy="1432657"/>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1794079" y="442952"/>
            <a:ext cx="10389059" cy="1776916"/>
          </a:xfrm>
          <a:prstGeom prst="rect">
            <a:avLst/>
          </a:prstGeom>
        </p:spPr>
        <p:txBody>
          <a:bodyPr lIns="0" tIns="0" rIns="0" bIns="0" rtlCol="0" anchor="t">
            <a:spAutoFit/>
          </a:bodyPr>
          <a:lstStyle/>
          <a:p>
            <a:pPr algn="l">
              <a:lnSpc>
                <a:spcPts val="6607"/>
              </a:lnSpc>
            </a:pPr>
            <a:r>
              <a:rPr lang="en-US" sz="6352" b="1">
                <a:solidFill>
                  <a:srgbClr val="FFFFFF"/>
                </a:solidFill>
                <a:latin typeface="Poppins Bold"/>
                <a:ea typeface="Poppins Bold"/>
                <a:cs typeface="Poppins Bold"/>
                <a:sym typeface="Poppins Bold"/>
              </a:rPr>
              <a:t>Key Findings</a:t>
            </a:r>
          </a:p>
          <a:p>
            <a:pPr algn="l">
              <a:lnSpc>
                <a:spcPts val="6607"/>
              </a:lnSpc>
            </a:pPr>
            <a:endParaRPr lang="en-US" sz="6352" b="1">
              <a:solidFill>
                <a:srgbClr val="FFFFFF"/>
              </a:solidFill>
              <a:latin typeface="Poppins Bold"/>
              <a:ea typeface="Poppins Bold"/>
              <a:cs typeface="Poppins Bold"/>
              <a:sym typeface="Poppins Bold"/>
            </a:endParaRPr>
          </a:p>
        </p:txBody>
      </p:sp>
      <p:sp>
        <p:nvSpPr>
          <p:cNvPr id="19" name="TextBox 19"/>
          <p:cNvSpPr txBox="1"/>
          <p:nvPr/>
        </p:nvSpPr>
        <p:spPr>
          <a:xfrm>
            <a:off x="1794079" y="2367234"/>
            <a:ext cx="8991990" cy="2975610"/>
          </a:xfrm>
          <a:prstGeom prst="rect">
            <a:avLst/>
          </a:prstGeom>
        </p:spPr>
        <p:txBody>
          <a:bodyPr lIns="0" tIns="0" rIns="0" bIns="0" rtlCol="0" anchor="t">
            <a:spAutoFit/>
          </a:bodyPr>
          <a:lstStyle/>
          <a:p>
            <a:pPr marL="453390" lvl="1" indent="-226695" algn="l">
              <a:lnSpc>
                <a:spcPts val="2940"/>
              </a:lnSpc>
              <a:buFont typeface="Arial"/>
              <a:buChar char="•"/>
            </a:pPr>
            <a:r>
              <a:rPr lang="en-US" sz="2100">
                <a:solidFill>
                  <a:srgbClr val="FFFFFF"/>
                </a:solidFill>
                <a:latin typeface="Poppins"/>
                <a:ea typeface="Poppins"/>
                <a:cs typeface="Poppins"/>
                <a:sym typeface="Poppins"/>
              </a:rPr>
              <a:t>Findings indicate that positive sentiment appears to be the most common among patient reviews.</a:t>
            </a:r>
          </a:p>
          <a:p>
            <a:pPr marL="453390" lvl="1" indent="-226695" algn="l">
              <a:lnSpc>
                <a:spcPts val="2940"/>
              </a:lnSpc>
              <a:buFont typeface="Arial"/>
              <a:buChar char="•"/>
            </a:pPr>
            <a:r>
              <a:rPr lang="en-US" sz="2100">
                <a:solidFill>
                  <a:srgbClr val="FFFFFF"/>
                </a:solidFill>
                <a:latin typeface="Poppins"/>
                <a:ea typeface="Poppins"/>
                <a:cs typeface="Poppins"/>
                <a:sym typeface="Poppins"/>
              </a:rPr>
              <a:t> This suggests that while many patients report favorable experiences with Abilify, a considerable portion still share challenging or negative experiences, reflecting mixed outcomes across different patient groups. The dataset therefore highlights the diverse and individualized responses to the medication within the mental health domain.</a:t>
            </a:r>
          </a:p>
        </p:txBody>
      </p:sp>
      <p:sp>
        <p:nvSpPr>
          <p:cNvPr id="20" name="TextBox 20"/>
          <p:cNvSpPr txBox="1"/>
          <p:nvPr/>
        </p:nvSpPr>
        <p:spPr>
          <a:xfrm>
            <a:off x="1681754" y="1651590"/>
            <a:ext cx="5306854" cy="772793"/>
          </a:xfrm>
          <a:prstGeom prst="rect">
            <a:avLst/>
          </a:prstGeom>
        </p:spPr>
        <p:txBody>
          <a:bodyPr lIns="0" tIns="0" rIns="0" bIns="0" rtlCol="0" anchor="t">
            <a:spAutoFit/>
          </a:bodyPr>
          <a:lstStyle/>
          <a:p>
            <a:pPr algn="ctr">
              <a:lnSpc>
                <a:spcPts val="3640"/>
              </a:lnSpc>
            </a:pPr>
            <a:r>
              <a:rPr lang="en-US" sz="2600" b="1">
                <a:solidFill>
                  <a:srgbClr val="FFFFFF"/>
                </a:solidFill>
                <a:latin typeface="Canva Sans Bold"/>
                <a:ea typeface="Canva Sans Bold"/>
                <a:cs typeface="Canva Sans Bold"/>
                <a:sym typeface="Canva Sans Bold"/>
              </a:rPr>
              <a:t>1. Overall Sentiment Distribution</a:t>
            </a:r>
          </a:p>
          <a:p>
            <a:pPr algn="ctr">
              <a:lnSpc>
                <a:spcPts val="2520"/>
              </a:lnSpc>
            </a:pPr>
            <a:endParaRPr lang="en-US" sz="2600" b="1">
              <a:solidFill>
                <a:srgbClr val="FFFFFF"/>
              </a:solidFill>
              <a:latin typeface="Canva Sans Bold"/>
              <a:ea typeface="Canva Sans Bold"/>
              <a:cs typeface="Canva Sans Bold"/>
              <a:sym typeface="Canva Sans Bold"/>
            </a:endParaRPr>
          </a:p>
        </p:txBody>
      </p:sp>
      <p:sp>
        <p:nvSpPr>
          <p:cNvPr id="21" name="TextBox 21"/>
          <p:cNvSpPr txBox="1"/>
          <p:nvPr/>
        </p:nvSpPr>
        <p:spPr>
          <a:xfrm>
            <a:off x="1794079" y="6728364"/>
            <a:ext cx="8317090" cy="1861185"/>
          </a:xfrm>
          <a:prstGeom prst="rect">
            <a:avLst/>
          </a:prstGeom>
        </p:spPr>
        <p:txBody>
          <a:bodyPr lIns="0" tIns="0" rIns="0" bIns="0" rtlCol="0" anchor="t">
            <a:spAutoFit/>
          </a:bodyPr>
          <a:lstStyle/>
          <a:p>
            <a:pPr marL="453390" lvl="1" indent="-226695" algn="just">
              <a:lnSpc>
                <a:spcPts val="2940"/>
              </a:lnSpc>
              <a:buFont typeface="Arial"/>
              <a:buChar char="•"/>
            </a:pPr>
            <a:r>
              <a:rPr lang="en-US" sz="2100">
                <a:solidFill>
                  <a:srgbClr val="FFFFFF"/>
                </a:solidFill>
                <a:latin typeface="Poppins"/>
                <a:ea typeface="Poppins"/>
                <a:cs typeface="Poppins"/>
                <a:sym typeface="Poppins"/>
              </a:rPr>
              <a:t>Patients with different mental health conditions show varying sentiment patterns</a:t>
            </a:r>
          </a:p>
          <a:p>
            <a:pPr marL="453390" lvl="1" indent="-226695" algn="just">
              <a:lnSpc>
                <a:spcPts val="2940"/>
              </a:lnSpc>
              <a:buFont typeface="Arial"/>
              <a:buChar char="•"/>
            </a:pPr>
            <a:r>
              <a:rPr lang="en-US" sz="2100">
                <a:solidFill>
                  <a:srgbClr val="FFFFFF"/>
                </a:solidFill>
                <a:latin typeface="Poppins"/>
                <a:ea typeface="Poppins"/>
                <a:cs typeface="Poppins"/>
                <a:sym typeface="Poppins"/>
              </a:rPr>
              <a:t>Some conditions may respond better to Abilify than others</a:t>
            </a:r>
          </a:p>
          <a:p>
            <a:pPr marL="453390" lvl="1" indent="-226695" algn="just">
              <a:lnSpc>
                <a:spcPts val="2940"/>
              </a:lnSpc>
              <a:buFont typeface="Arial"/>
              <a:buChar char="•"/>
            </a:pPr>
            <a:r>
              <a:rPr lang="en-US" sz="2100">
                <a:solidFill>
                  <a:srgbClr val="FFFFFF"/>
                </a:solidFill>
                <a:latin typeface="Poppins"/>
                <a:ea typeface="Poppins"/>
                <a:cs typeface="Poppins"/>
                <a:sym typeface="Poppins"/>
              </a:rPr>
              <a:t>Treatment effectiveness varies significantly across conditions</a:t>
            </a:r>
          </a:p>
        </p:txBody>
      </p:sp>
      <p:sp>
        <p:nvSpPr>
          <p:cNvPr id="22" name="TextBox 22"/>
          <p:cNvSpPr txBox="1"/>
          <p:nvPr/>
        </p:nvSpPr>
        <p:spPr>
          <a:xfrm>
            <a:off x="1681754" y="5921107"/>
            <a:ext cx="4734401" cy="772793"/>
          </a:xfrm>
          <a:prstGeom prst="rect">
            <a:avLst/>
          </a:prstGeom>
        </p:spPr>
        <p:txBody>
          <a:bodyPr lIns="0" tIns="0" rIns="0" bIns="0" rtlCol="0" anchor="t">
            <a:spAutoFit/>
          </a:bodyPr>
          <a:lstStyle/>
          <a:p>
            <a:pPr algn="ctr">
              <a:lnSpc>
                <a:spcPts val="3640"/>
              </a:lnSpc>
            </a:pPr>
            <a:r>
              <a:rPr lang="en-US" sz="2600" b="1">
                <a:solidFill>
                  <a:srgbClr val="FFFFFF"/>
                </a:solidFill>
                <a:latin typeface="Canva Sans Bold"/>
                <a:ea typeface="Canva Sans Bold"/>
                <a:cs typeface="Canva Sans Bold"/>
                <a:sym typeface="Canva Sans Bold"/>
              </a:rPr>
              <a:t>2. Medical Condition Analysis</a:t>
            </a:r>
          </a:p>
          <a:p>
            <a:pPr algn="ctr">
              <a:lnSpc>
                <a:spcPts val="2520"/>
              </a:lnSpc>
            </a:pPr>
            <a:endParaRPr lang="en-US" sz="2600" b="1">
              <a:solidFill>
                <a:srgbClr val="FFFFFF"/>
              </a:solidFill>
              <a:latin typeface="Canva Sans Bold"/>
              <a:ea typeface="Canva Sans Bold"/>
              <a:cs typeface="Canva Sans Bold"/>
              <a:sym typeface="Canva Sans Bold"/>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Freeform 6"/>
          <p:cNvSpPr/>
          <p:nvPr/>
        </p:nvSpPr>
        <p:spPr>
          <a:xfrm>
            <a:off x="722342" y="672469"/>
            <a:ext cx="530888" cy="617312"/>
          </a:xfrm>
          <a:custGeom>
            <a:avLst/>
            <a:gdLst/>
            <a:ahLst/>
            <a:cxnLst/>
            <a:rect l="l" t="t" r="r" b="b"/>
            <a:pathLst>
              <a:path w="530888" h="617312">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0946975" y="2175823"/>
            <a:ext cx="5902319" cy="5902319"/>
          </a:xfrm>
          <a:custGeom>
            <a:avLst/>
            <a:gdLst/>
            <a:ahLst/>
            <a:cxnLst/>
            <a:rect l="l" t="t" r="r" b="b"/>
            <a:pathLst>
              <a:path w="5902319" h="5902319">
                <a:moveTo>
                  <a:pt x="0" y="0"/>
                </a:moveTo>
                <a:lnTo>
                  <a:pt x="5902320" y="0"/>
                </a:lnTo>
                <a:lnTo>
                  <a:pt x="5902320" y="5902320"/>
                </a:lnTo>
                <a:lnTo>
                  <a:pt x="0" y="590232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AutoShape 8"/>
          <p:cNvSpPr/>
          <p:nvPr/>
        </p:nvSpPr>
        <p:spPr>
          <a:xfrm>
            <a:off x="-1323699" y="9239250"/>
            <a:ext cx="15717833" cy="19050"/>
          </a:xfrm>
          <a:prstGeom prst="line">
            <a:avLst/>
          </a:prstGeom>
          <a:ln w="28575" cap="flat">
            <a:solidFill>
              <a:srgbClr val="64DBFF"/>
            </a:solidFill>
            <a:prstDash val="solid"/>
            <a:headEnd type="none" w="sm" len="sm"/>
            <a:tailEnd type="none" w="sm" len="sm"/>
          </a:ln>
        </p:spPr>
      </p:sp>
      <p:grpSp>
        <p:nvGrpSpPr>
          <p:cNvPr id="9" name="Group 9"/>
          <p:cNvGrpSpPr/>
          <p:nvPr/>
        </p:nvGrpSpPr>
        <p:grpSpPr>
          <a:xfrm>
            <a:off x="14251134" y="9096249"/>
            <a:ext cx="286001" cy="28600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7">
              <a:alphaModFix amt="58000"/>
              <a:extLst>
                <a:ext uri="{96DAC541-7B7A-43D3-8B79-37D633B846F1}">
                  <asvg:svgBlip xmlns:asvg="http://schemas.microsoft.com/office/drawing/2016/SVG/main" r:embed="rId8"/>
                </a:ext>
              </a:extLst>
            </a:blip>
            <a:stretch>
              <a:fillRect/>
            </a:stretch>
          </a:blipFill>
        </p:spPr>
      </p:sp>
      <p:sp>
        <p:nvSpPr>
          <p:cNvPr id="13" name="Freeform 13"/>
          <p:cNvSpPr/>
          <p:nvPr/>
        </p:nvSpPr>
        <p:spPr>
          <a:xfrm>
            <a:off x="12788671" y="0"/>
            <a:ext cx="5499329" cy="5126983"/>
          </a:xfrm>
          <a:custGeom>
            <a:avLst/>
            <a:gdLst/>
            <a:ahLst/>
            <a:cxnLst/>
            <a:rect l="l" t="t" r="r" b="b"/>
            <a:pathLst>
              <a:path w="5499329" h="5126983">
                <a:moveTo>
                  <a:pt x="0" y="0"/>
                </a:moveTo>
                <a:lnTo>
                  <a:pt x="5499329" y="0"/>
                </a:lnTo>
                <a:lnTo>
                  <a:pt x="5499329" y="5126983"/>
                </a:lnTo>
                <a:lnTo>
                  <a:pt x="0" y="5126983"/>
                </a:lnTo>
                <a:lnTo>
                  <a:pt x="0" y="0"/>
                </a:lnTo>
                <a:close/>
              </a:path>
            </a:pathLst>
          </a:custGeom>
          <a:blipFill>
            <a:blip r:embed="rId9"/>
            <a:stretch>
              <a:fillRect l="-10412" b="-4255"/>
            </a:stretch>
          </a:blipFill>
        </p:spPr>
      </p:sp>
      <p:sp>
        <p:nvSpPr>
          <p:cNvPr id="14" name="Freeform 14"/>
          <p:cNvSpPr/>
          <p:nvPr/>
        </p:nvSpPr>
        <p:spPr>
          <a:xfrm>
            <a:off x="10414663" y="5359974"/>
            <a:ext cx="7873337" cy="4724002"/>
          </a:xfrm>
          <a:custGeom>
            <a:avLst/>
            <a:gdLst/>
            <a:ahLst/>
            <a:cxnLst/>
            <a:rect l="l" t="t" r="r" b="b"/>
            <a:pathLst>
              <a:path w="7873337" h="4724002">
                <a:moveTo>
                  <a:pt x="0" y="0"/>
                </a:moveTo>
                <a:lnTo>
                  <a:pt x="7873337" y="0"/>
                </a:lnTo>
                <a:lnTo>
                  <a:pt x="7873337" y="4724002"/>
                </a:lnTo>
                <a:lnTo>
                  <a:pt x="0" y="4724002"/>
                </a:lnTo>
                <a:lnTo>
                  <a:pt x="0" y="0"/>
                </a:lnTo>
                <a:close/>
              </a:path>
            </a:pathLst>
          </a:custGeom>
          <a:blipFill>
            <a:blip r:embed="rId10"/>
            <a:stretch>
              <a:fillRect/>
            </a:stretch>
          </a:blipFill>
        </p:spPr>
      </p:sp>
      <p:sp>
        <p:nvSpPr>
          <p:cNvPr id="15" name="TextBox 15"/>
          <p:cNvSpPr txBox="1"/>
          <p:nvPr/>
        </p:nvSpPr>
        <p:spPr>
          <a:xfrm>
            <a:off x="1681754" y="2300559"/>
            <a:ext cx="8991990" cy="2053971"/>
          </a:xfrm>
          <a:prstGeom prst="rect">
            <a:avLst/>
          </a:prstGeom>
        </p:spPr>
        <p:txBody>
          <a:bodyPr lIns="0" tIns="0" rIns="0" bIns="0" rtlCol="0" anchor="t">
            <a:spAutoFit/>
          </a:bodyPr>
          <a:lstStyle/>
          <a:p>
            <a:pPr marL="453390" lvl="1" indent="-226695" algn="l">
              <a:lnSpc>
                <a:spcPts val="3654"/>
              </a:lnSpc>
              <a:buFont typeface="Arial"/>
              <a:buChar char="•"/>
            </a:pPr>
            <a:r>
              <a:rPr lang="en-US" sz="2100">
                <a:solidFill>
                  <a:srgbClr val="FFFFFF"/>
                </a:solidFill>
                <a:latin typeface="Poppins"/>
                <a:ea typeface="Poppins"/>
                <a:cs typeface="Poppins"/>
                <a:sym typeface="Poppins"/>
              </a:rPr>
              <a:t>Longer treatment duration doesn't necessarily correlate with more positive sentiment</a:t>
            </a:r>
          </a:p>
          <a:p>
            <a:pPr marL="453390" lvl="1" indent="-226695" algn="l">
              <a:lnSpc>
                <a:spcPts val="2940"/>
              </a:lnSpc>
              <a:buFont typeface="Arial"/>
              <a:buChar char="•"/>
            </a:pPr>
            <a:r>
              <a:rPr lang="en-US" sz="2100">
                <a:solidFill>
                  <a:srgbClr val="FFFFFF"/>
                </a:solidFill>
                <a:latin typeface="Poppins"/>
                <a:ea typeface="Poppins"/>
                <a:cs typeface="Poppins"/>
                <a:sym typeface="Poppins"/>
              </a:rPr>
              <a:t>Some patients experience side effects that worsen over time</a:t>
            </a:r>
          </a:p>
          <a:p>
            <a:pPr marL="453390" lvl="1" indent="-226695" algn="l">
              <a:lnSpc>
                <a:spcPts val="2940"/>
              </a:lnSpc>
              <a:buFont typeface="Arial"/>
              <a:buChar char="•"/>
            </a:pPr>
            <a:r>
              <a:rPr lang="en-US" sz="2100">
                <a:solidFill>
                  <a:srgbClr val="FFFFFF"/>
                </a:solidFill>
                <a:latin typeface="Poppins"/>
                <a:ea typeface="Poppins"/>
                <a:cs typeface="Poppins"/>
                <a:sym typeface="Poppins"/>
              </a:rPr>
              <a:t>Others may find the medication more effective with longer use</a:t>
            </a:r>
          </a:p>
          <a:p>
            <a:pPr algn="l">
              <a:lnSpc>
                <a:spcPts val="2940"/>
              </a:lnSpc>
            </a:pPr>
            <a:endParaRPr lang="en-US" sz="2100">
              <a:solidFill>
                <a:srgbClr val="FFFFFF"/>
              </a:solidFill>
              <a:latin typeface="Poppins"/>
              <a:ea typeface="Poppins"/>
              <a:cs typeface="Poppins"/>
              <a:sym typeface="Poppins"/>
            </a:endParaRPr>
          </a:p>
        </p:txBody>
      </p:sp>
      <p:sp>
        <p:nvSpPr>
          <p:cNvPr id="16" name="TextBox 16"/>
          <p:cNvSpPr txBox="1"/>
          <p:nvPr/>
        </p:nvSpPr>
        <p:spPr>
          <a:xfrm>
            <a:off x="1794079" y="1651590"/>
            <a:ext cx="4754404" cy="772793"/>
          </a:xfrm>
          <a:prstGeom prst="rect">
            <a:avLst/>
          </a:prstGeom>
        </p:spPr>
        <p:txBody>
          <a:bodyPr lIns="0" tIns="0" rIns="0" bIns="0" rtlCol="0" anchor="t">
            <a:spAutoFit/>
          </a:bodyPr>
          <a:lstStyle/>
          <a:p>
            <a:pPr algn="ctr">
              <a:lnSpc>
                <a:spcPts val="3640"/>
              </a:lnSpc>
            </a:pPr>
            <a:r>
              <a:rPr lang="en-US" sz="2600" b="1">
                <a:solidFill>
                  <a:srgbClr val="FFFFFF"/>
                </a:solidFill>
                <a:latin typeface="Canva Sans Bold"/>
                <a:ea typeface="Canva Sans Bold"/>
                <a:cs typeface="Canva Sans Bold"/>
                <a:sym typeface="Canva Sans Bold"/>
              </a:rPr>
              <a:t>3. Treatment Duration Impact</a:t>
            </a:r>
          </a:p>
          <a:p>
            <a:pPr algn="ctr">
              <a:lnSpc>
                <a:spcPts val="2520"/>
              </a:lnSpc>
            </a:pPr>
            <a:endParaRPr lang="en-US" sz="2600" b="1">
              <a:solidFill>
                <a:srgbClr val="FFFFFF"/>
              </a:solidFill>
              <a:latin typeface="Canva Sans Bold"/>
              <a:ea typeface="Canva Sans Bold"/>
              <a:cs typeface="Canva Sans Bold"/>
              <a:sym typeface="Canva Sans Bold"/>
            </a:endParaRPr>
          </a:p>
        </p:txBody>
      </p:sp>
      <p:sp>
        <p:nvSpPr>
          <p:cNvPr id="17" name="TextBox 17"/>
          <p:cNvSpPr txBox="1"/>
          <p:nvPr/>
        </p:nvSpPr>
        <p:spPr>
          <a:xfrm>
            <a:off x="1681754" y="6391332"/>
            <a:ext cx="8317090" cy="2604135"/>
          </a:xfrm>
          <a:prstGeom prst="rect">
            <a:avLst/>
          </a:prstGeom>
        </p:spPr>
        <p:txBody>
          <a:bodyPr lIns="0" tIns="0" rIns="0" bIns="0" rtlCol="0" anchor="t">
            <a:spAutoFit/>
          </a:bodyPr>
          <a:lstStyle/>
          <a:p>
            <a:pPr marL="453390" lvl="1" indent="-226695" algn="just">
              <a:lnSpc>
                <a:spcPts val="2940"/>
              </a:lnSpc>
              <a:buFont typeface="Arial"/>
              <a:buChar char="•"/>
            </a:pPr>
            <a:r>
              <a:rPr lang="en-US" sz="2100">
                <a:solidFill>
                  <a:srgbClr val="FFFFFF"/>
                </a:solidFill>
                <a:latin typeface="Poppins"/>
                <a:ea typeface="Poppins"/>
                <a:cs typeface="Poppins"/>
                <a:sym typeface="Poppins"/>
              </a:rPr>
              <a:t>Our machine learning models achieved reasonable accuracy in sentiment classification</a:t>
            </a:r>
          </a:p>
          <a:p>
            <a:pPr marL="453390" lvl="1" indent="-226695" algn="just">
              <a:lnSpc>
                <a:spcPts val="2940"/>
              </a:lnSpc>
              <a:buFont typeface="Arial"/>
              <a:buChar char="•"/>
            </a:pPr>
            <a:r>
              <a:rPr lang="en-US" sz="2100">
                <a:solidFill>
                  <a:srgbClr val="FFFFFF"/>
                </a:solidFill>
                <a:latin typeface="Poppins"/>
                <a:ea typeface="Poppins"/>
                <a:cs typeface="Poppins"/>
                <a:sym typeface="Poppins"/>
              </a:rPr>
              <a:t>The best performing model (ie. Logistic Regression) was able to predict sentiment with good reliability</a:t>
            </a:r>
          </a:p>
          <a:p>
            <a:pPr marL="453390" lvl="1" indent="-226695" algn="just">
              <a:lnSpc>
                <a:spcPts val="2940"/>
              </a:lnSpc>
              <a:buFont typeface="Arial"/>
              <a:buChar char="•"/>
            </a:pPr>
            <a:r>
              <a:rPr lang="en-US" sz="2100">
                <a:solidFill>
                  <a:srgbClr val="FFFFFF"/>
                </a:solidFill>
                <a:latin typeface="Poppins"/>
                <a:ea typeface="Poppins"/>
                <a:cs typeface="Poppins"/>
                <a:sym typeface="Poppins"/>
              </a:rPr>
              <a:t>TF-IDF vectorization proved effective for this healthcare text data</a:t>
            </a:r>
          </a:p>
          <a:p>
            <a:pPr algn="just">
              <a:lnSpc>
                <a:spcPts val="2940"/>
              </a:lnSpc>
            </a:pPr>
            <a:endParaRPr lang="en-US" sz="2100">
              <a:solidFill>
                <a:srgbClr val="FFFFFF"/>
              </a:solidFill>
              <a:latin typeface="Poppins"/>
              <a:ea typeface="Poppins"/>
              <a:cs typeface="Poppins"/>
              <a:sym typeface="Poppins"/>
            </a:endParaRPr>
          </a:p>
        </p:txBody>
      </p:sp>
      <p:sp>
        <p:nvSpPr>
          <p:cNvPr id="18" name="TextBox 18"/>
          <p:cNvSpPr txBox="1"/>
          <p:nvPr/>
        </p:nvSpPr>
        <p:spPr>
          <a:xfrm>
            <a:off x="1794079" y="5675689"/>
            <a:ext cx="3561636" cy="772793"/>
          </a:xfrm>
          <a:prstGeom prst="rect">
            <a:avLst/>
          </a:prstGeom>
        </p:spPr>
        <p:txBody>
          <a:bodyPr lIns="0" tIns="0" rIns="0" bIns="0" rtlCol="0" anchor="t">
            <a:spAutoFit/>
          </a:bodyPr>
          <a:lstStyle/>
          <a:p>
            <a:pPr algn="ctr">
              <a:lnSpc>
                <a:spcPts val="3640"/>
              </a:lnSpc>
            </a:pPr>
            <a:r>
              <a:rPr lang="en-US" sz="2600" b="1">
                <a:solidFill>
                  <a:srgbClr val="FFFFFF"/>
                </a:solidFill>
                <a:latin typeface="Canva Sans Bold"/>
                <a:ea typeface="Canva Sans Bold"/>
                <a:cs typeface="Canva Sans Bold"/>
                <a:sym typeface="Canva Sans Bold"/>
              </a:rPr>
              <a:t>4. Model Performance</a:t>
            </a:r>
          </a:p>
          <a:p>
            <a:pPr algn="ctr">
              <a:lnSpc>
                <a:spcPts val="2520"/>
              </a:lnSpc>
            </a:pPr>
            <a:endParaRPr lang="en-US" sz="2600" b="1">
              <a:solidFill>
                <a:srgbClr val="FFFFFF"/>
              </a:solidFill>
              <a:latin typeface="Canva Sans Bold"/>
              <a:ea typeface="Canva Sans Bold"/>
              <a:cs typeface="Canva Sans Bold"/>
              <a:sym typeface="Canva Sans Bold"/>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6" name="Freeform 6"/>
          <p:cNvSpPr/>
          <p:nvPr/>
        </p:nvSpPr>
        <p:spPr>
          <a:xfrm>
            <a:off x="722342" y="672469"/>
            <a:ext cx="530888" cy="617312"/>
          </a:xfrm>
          <a:custGeom>
            <a:avLst/>
            <a:gdLst/>
            <a:ahLst/>
            <a:cxnLst/>
            <a:rect l="l" t="t" r="r" b="b"/>
            <a:pathLst>
              <a:path w="530888" h="617312">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0946975" y="2175823"/>
            <a:ext cx="5902319" cy="5902319"/>
          </a:xfrm>
          <a:custGeom>
            <a:avLst/>
            <a:gdLst/>
            <a:ahLst/>
            <a:cxnLst/>
            <a:rect l="l" t="t" r="r" b="b"/>
            <a:pathLst>
              <a:path w="5902319" h="5902319">
                <a:moveTo>
                  <a:pt x="0" y="0"/>
                </a:moveTo>
                <a:lnTo>
                  <a:pt x="5902320" y="0"/>
                </a:lnTo>
                <a:lnTo>
                  <a:pt x="5902320" y="5902320"/>
                </a:lnTo>
                <a:lnTo>
                  <a:pt x="0" y="590232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AutoShape 8"/>
          <p:cNvSpPr/>
          <p:nvPr/>
        </p:nvSpPr>
        <p:spPr>
          <a:xfrm>
            <a:off x="-1323699" y="9239250"/>
            <a:ext cx="15717833" cy="19050"/>
          </a:xfrm>
          <a:prstGeom prst="line">
            <a:avLst/>
          </a:prstGeom>
          <a:ln w="28575" cap="flat">
            <a:solidFill>
              <a:srgbClr val="64DBFF"/>
            </a:solidFill>
            <a:prstDash val="solid"/>
            <a:headEnd type="none" w="sm" len="sm"/>
            <a:tailEnd type="none" w="sm" len="sm"/>
          </a:ln>
        </p:spPr>
      </p:sp>
      <p:grpSp>
        <p:nvGrpSpPr>
          <p:cNvPr id="9" name="Group 9"/>
          <p:cNvGrpSpPr/>
          <p:nvPr/>
        </p:nvGrpSpPr>
        <p:grpSpPr>
          <a:xfrm>
            <a:off x="14251134" y="9096249"/>
            <a:ext cx="286001" cy="28600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7">
              <a:alphaModFix amt="58000"/>
              <a:extLst>
                <a:ext uri="{96DAC541-7B7A-43D3-8B79-37D633B846F1}">
                  <asvg:svgBlip xmlns:asvg="http://schemas.microsoft.com/office/drawing/2016/SVG/main" r:embed="rId8"/>
                </a:ext>
              </a:extLst>
            </a:blip>
            <a:stretch>
              <a:fillRect/>
            </a:stretch>
          </a:blipFill>
        </p:spPr>
      </p:sp>
      <p:sp>
        <p:nvSpPr>
          <p:cNvPr id="13" name="Freeform 13"/>
          <p:cNvSpPr/>
          <p:nvPr/>
        </p:nvSpPr>
        <p:spPr>
          <a:xfrm>
            <a:off x="10286162" y="2077838"/>
            <a:ext cx="7223945" cy="6131323"/>
          </a:xfrm>
          <a:custGeom>
            <a:avLst/>
            <a:gdLst/>
            <a:ahLst/>
            <a:cxnLst/>
            <a:rect l="l" t="t" r="r" b="b"/>
            <a:pathLst>
              <a:path w="7223945" h="6131323">
                <a:moveTo>
                  <a:pt x="0" y="0"/>
                </a:moveTo>
                <a:lnTo>
                  <a:pt x="7223945" y="0"/>
                </a:lnTo>
                <a:lnTo>
                  <a:pt x="7223945" y="6131324"/>
                </a:lnTo>
                <a:lnTo>
                  <a:pt x="0" y="6131324"/>
                </a:lnTo>
                <a:lnTo>
                  <a:pt x="0" y="0"/>
                </a:lnTo>
                <a:close/>
              </a:path>
            </a:pathLst>
          </a:custGeom>
          <a:blipFill>
            <a:blip r:embed="rId9"/>
            <a:stretch>
              <a:fillRect/>
            </a:stretch>
          </a:blipFill>
        </p:spPr>
      </p:sp>
      <p:sp>
        <p:nvSpPr>
          <p:cNvPr id="14" name="TextBox 14"/>
          <p:cNvSpPr txBox="1"/>
          <p:nvPr/>
        </p:nvSpPr>
        <p:spPr>
          <a:xfrm>
            <a:off x="1794079" y="482123"/>
            <a:ext cx="8711764" cy="1510541"/>
          </a:xfrm>
          <a:prstGeom prst="rect">
            <a:avLst/>
          </a:prstGeom>
        </p:spPr>
        <p:txBody>
          <a:bodyPr lIns="0" tIns="0" rIns="0" bIns="0" rtlCol="0" anchor="t">
            <a:spAutoFit/>
          </a:bodyPr>
          <a:lstStyle/>
          <a:p>
            <a:pPr algn="ctr">
              <a:lnSpc>
                <a:spcPts val="7150"/>
              </a:lnSpc>
            </a:pPr>
            <a:r>
              <a:rPr lang="en-US" sz="5107" b="1">
                <a:solidFill>
                  <a:srgbClr val="FFFFFF"/>
                </a:solidFill>
                <a:latin typeface="Canva Sans Bold"/>
                <a:ea typeface="Canva Sans Bold"/>
                <a:cs typeface="Canva Sans Bold"/>
                <a:sym typeface="Canva Sans Bold"/>
              </a:rPr>
              <a:t>Model Evaluation Summary</a:t>
            </a:r>
          </a:p>
          <a:p>
            <a:pPr algn="ctr">
              <a:lnSpc>
                <a:spcPts val="4950"/>
              </a:lnSpc>
            </a:pPr>
            <a:endParaRPr lang="en-US" sz="5107" b="1">
              <a:solidFill>
                <a:srgbClr val="FFFFFF"/>
              </a:solidFill>
              <a:latin typeface="Canva Sans Bold"/>
              <a:ea typeface="Canva Sans Bold"/>
              <a:cs typeface="Canva Sans Bold"/>
              <a:sym typeface="Canva Sans Bold"/>
            </a:endParaRPr>
          </a:p>
        </p:txBody>
      </p:sp>
      <p:sp>
        <p:nvSpPr>
          <p:cNvPr id="15" name="TextBox 15"/>
          <p:cNvSpPr txBox="1"/>
          <p:nvPr/>
        </p:nvSpPr>
        <p:spPr>
          <a:xfrm>
            <a:off x="1253230" y="2296243"/>
            <a:ext cx="8317090" cy="4692651"/>
          </a:xfrm>
          <a:prstGeom prst="rect">
            <a:avLst/>
          </a:prstGeom>
        </p:spPr>
        <p:txBody>
          <a:bodyPr lIns="0" tIns="0" rIns="0" bIns="0" rtlCol="0" anchor="t">
            <a:spAutoFit/>
          </a:bodyPr>
          <a:lstStyle/>
          <a:p>
            <a:pPr marL="539748" lvl="1" indent="-269874" algn="just">
              <a:lnSpc>
                <a:spcPts val="4674"/>
              </a:lnSpc>
              <a:buFont typeface="Arial"/>
              <a:buChar char="•"/>
            </a:pPr>
            <a:r>
              <a:rPr lang="en-US" sz="2499" b="1">
                <a:solidFill>
                  <a:srgbClr val="FFFFFF"/>
                </a:solidFill>
                <a:latin typeface="Poppins Bold"/>
                <a:ea typeface="Poppins Bold"/>
                <a:cs typeface="Poppins Bold"/>
                <a:sym typeface="Poppins Bold"/>
              </a:rPr>
              <a:t>Accuracy</a:t>
            </a:r>
            <a:r>
              <a:rPr lang="en-US" sz="2499">
                <a:solidFill>
                  <a:srgbClr val="FFFFFF"/>
                </a:solidFill>
                <a:latin typeface="Poppins"/>
                <a:ea typeface="Poppins"/>
                <a:cs typeface="Poppins"/>
                <a:sym typeface="Poppins"/>
              </a:rPr>
              <a:t>: The best model achieved good performance on sentiment classification</a:t>
            </a:r>
          </a:p>
          <a:p>
            <a:pPr algn="just">
              <a:lnSpc>
                <a:spcPts val="4674"/>
              </a:lnSpc>
            </a:pPr>
            <a:endParaRPr lang="en-US" sz="2499">
              <a:solidFill>
                <a:srgbClr val="FFFFFF"/>
              </a:solidFill>
              <a:latin typeface="Poppins"/>
              <a:ea typeface="Poppins"/>
              <a:cs typeface="Poppins"/>
              <a:sym typeface="Poppins"/>
            </a:endParaRPr>
          </a:p>
          <a:p>
            <a:pPr marL="539748" lvl="1" indent="-269874" algn="just">
              <a:lnSpc>
                <a:spcPts val="4674"/>
              </a:lnSpc>
              <a:buFont typeface="Arial"/>
              <a:buChar char="•"/>
            </a:pPr>
            <a:r>
              <a:rPr lang="en-US" sz="2499" b="1">
                <a:solidFill>
                  <a:srgbClr val="FFFFFF"/>
                </a:solidFill>
                <a:latin typeface="Poppins Bold"/>
                <a:ea typeface="Poppins Bold"/>
                <a:cs typeface="Poppins Bold"/>
                <a:sym typeface="Poppins Bold"/>
              </a:rPr>
              <a:t>Reliability</a:t>
            </a:r>
            <a:r>
              <a:rPr lang="en-US" sz="2499">
                <a:solidFill>
                  <a:srgbClr val="FFFFFF"/>
                </a:solidFill>
                <a:latin typeface="Poppins"/>
                <a:ea typeface="Poppins"/>
                <a:cs typeface="Poppins"/>
                <a:sym typeface="Poppins"/>
              </a:rPr>
              <a:t>: Model shows consistent performance across different sentiment categories</a:t>
            </a:r>
          </a:p>
          <a:p>
            <a:pPr algn="just">
              <a:lnSpc>
                <a:spcPts val="4674"/>
              </a:lnSpc>
            </a:pPr>
            <a:endParaRPr lang="en-US" sz="2499">
              <a:solidFill>
                <a:srgbClr val="FFFFFF"/>
              </a:solidFill>
              <a:latin typeface="Poppins"/>
              <a:ea typeface="Poppins"/>
              <a:cs typeface="Poppins"/>
              <a:sym typeface="Poppins"/>
            </a:endParaRPr>
          </a:p>
          <a:p>
            <a:pPr marL="539748" lvl="1" indent="-269874" algn="just">
              <a:lnSpc>
                <a:spcPts val="4674"/>
              </a:lnSpc>
              <a:buFont typeface="Arial"/>
              <a:buChar char="•"/>
            </a:pPr>
            <a:r>
              <a:rPr lang="en-US" sz="2499" b="1">
                <a:solidFill>
                  <a:srgbClr val="FFFFFF"/>
                </a:solidFill>
                <a:latin typeface="Poppins Bold"/>
                <a:ea typeface="Poppins Bold"/>
                <a:cs typeface="Poppins Bold"/>
                <a:sym typeface="Poppins Bold"/>
              </a:rPr>
              <a:t>Practical Use</a:t>
            </a:r>
            <a:r>
              <a:rPr lang="en-US" sz="2499">
                <a:solidFill>
                  <a:srgbClr val="FFFFFF"/>
                </a:solidFill>
                <a:latin typeface="Poppins"/>
                <a:ea typeface="Poppins"/>
                <a:cs typeface="Poppins"/>
                <a:sym typeface="Poppins"/>
              </a:rPr>
              <a:t>: Can be used to automatically analyze patient feedback for healthcare insights</a:t>
            </a: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0D1FF">
                    <a:alpha val="86000"/>
                  </a:srgbClr>
                </a:gs>
                <a:gs pos="50000">
                  <a:srgbClr val="001496">
                    <a:alpha val="86000"/>
                  </a:srgbClr>
                </a:gs>
                <a:gs pos="100000">
                  <a:srgbClr val="000F70">
                    <a:alpha val="86000"/>
                  </a:srgbClr>
                </a:gs>
              </a:gsLst>
              <a:path path="circle">
                <a:fillToRect l="50000" t="50000" r="50000" b="50000"/>
              </a:path>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spcBef>
                  <a:spcPct val="0"/>
                </a:spcBef>
              </a:pPr>
              <a:endParaRPr/>
            </a:p>
          </p:txBody>
        </p:sp>
      </p:grpSp>
      <p:sp>
        <p:nvSpPr>
          <p:cNvPr id="6" name="Freeform 6"/>
          <p:cNvSpPr/>
          <p:nvPr/>
        </p:nvSpPr>
        <p:spPr>
          <a:xfrm>
            <a:off x="722342" y="672469"/>
            <a:ext cx="530888" cy="617312"/>
          </a:xfrm>
          <a:custGeom>
            <a:avLst/>
            <a:gdLst/>
            <a:ahLst/>
            <a:cxnLst/>
            <a:rect l="l" t="t" r="r" b="b"/>
            <a:pathLst>
              <a:path w="530888" h="617312">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5839908" y="2165933"/>
            <a:ext cx="6608184" cy="6602071"/>
          </a:xfrm>
          <a:custGeom>
            <a:avLst/>
            <a:gdLst/>
            <a:ahLst/>
            <a:cxnLst/>
            <a:rect l="l" t="t" r="r" b="b"/>
            <a:pathLst>
              <a:path w="6608184" h="6602071">
                <a:moveTo>
                  <a:pt x="0" y="0"/>
                </a:moveTo>
                <a:lnTo>
                  <a:pt x="6608184" y="0"/>
                </a:lnTo>
                <a:lnTo>
                  <a:pt x="6608184" y="6602071"/>
                </a:lnTo>
                <a:lnTo>
                  <a:pt x="0" y="6602071"/>
                </a:lnTo>
                <a:lnTo>
                  <a:pt x="0" y="0"/>
                </a:lnTo>
                <a:close/>
              </a:path>
            </a:pathLst>
          </a:custGeom>
          <a:blipFill>
            <a:blip r:embed="rId5">
              <a:alphaModFix amt="31000"/>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2845183" y="4610082"/>
            <a:ext cx="12597633" cy="1780448"/>
          </a:xfrm>
          <a:prstGeom prst="rect">
            <a:avLst/>
          </a:prstGeom>
        </p:spPr>
        <p:txBody>
          <a:bodyPr lIns="0" tIns="0" rIns="0" bIns="0" rtlCol="0" anchor="t">
            <a:spAutoFit/>
          </a:bodyPr>
          <a:lstStyle/>
          <a:p>
            <a:pPr algn="ctr">
              <a:lnSpc>
                <a:spcPts val="12637"/>
              </a:lnSpc>
            </a:pPr>
            <a:r>
              <a:rPr lang="en-US" sz="12151" b="1">
                <a:solidFill>
                  <a:srgbClr val="FFFFFF"/>
                </a:solidFill>
                <a:latin typeface="Poppins Bold"/>
                <a:ea typeface="Poppins Bold"/>
                <a:cs typeface="Poppins Bold"/>
                <a:sym typeface="Poppins Bold"/>
              </a:rPr>
              <a:t>THANK YOU</a:t>
            </a:r>
          </a:p>
        </p:txBody>
      </p:sp>
      <p:sp>
        <p:nvSpPr>
          <p:cNvPr id="9" name="Freeform 9"/>
          <p:cNvSpPr/>
          <p:nvPr/>
        </p:nvSpPr>
        <p:spPr>
          <a:xfrm>
            <a:off x="8029515" y="-1031595"/>
            <a:ext cx="12370599" cy="1799360"/>
          </a:xfrm>
          <a:custGeom>
            <a:avLst/>
            <a:gdLst/>
            <a:ahLst/>
            <a:cxnLst/>
            <a:rect l="l" t="t" r="r" b="b"/>
            <a:pathLst>
              <a:path w="12370599" h="1799360">
                <a:moveTo>
                  <a:pt x="0" y="0"/>
                </a:moveTo>
                <a:lnTo>
                  <a:pt x="12370599" y="0"/>
                </a:lnTo>
                <a:lnTo>
                  <a:pt x="12370599" y="1799360"/>
                </a:lnTo>
                <a:lnTo>
                  <a:pt x="0" y="17993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TextBox 10"/>
          <p:cNvSpPr txBox="1"/>
          <p:nvPr/>
        </p:nvSpPr>
        <p:spPr>
          <a:xfrm>
            <a:off x="8496029" y="8806749"/>
            <a:ext cx="1274721" cy="451551"/>
          </a:xfrm>
          <a:prstGeom prst="rect">
            <a:avLst/>
          </a:prstGeom>
        </p:spPr>
        <p:txBody>
          <a:bodyPr lIns="0" tIns="0" rIns="0" bIns="0" rtlCol="0" anchor="t">
            <a:spAutoFit/>
          </a:bodyPr>
          <a:lstStyle/>
          <a:p>
            <a:pPr algn="ctr">
              <a:lnSpc>
                <a:spcPts val="3461"/>
              </a:lnSpc>
            </a:pPr>
            <a:r>
              <a:rPr lang="en-US" sz="2472" b="1">
                <a:solidFill>
                  <a:srgbClr val="FFFFFF"/>
                </a:solidFill>
                <a:latin typeface="Poppins Bold"/>
                <a:ea typeface="Poppins Bold"/>
                <a:cs typeface="Poppins Bold"/>
                <a:sym typeface="Poppins Bold"/>
              </a:rPr>
              <a:t>-</a:t>
            </a:r>
          </a:p>
        </p:txBody>
      </p:sp>
    </p:spTree>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768</Words>
  <Application>Microsoft Office PowerPoint</Application>
  <PresentationFormat>Custom</PresentationFormat>
  <Paragraphs>67</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Poppins</vt:lpstr>
      <vt:lpstr>Canva Sans Bold</vt:lpstr>
      <vt:lpstr>Arial</vt:lpstr>
      <vt:lpstr>Poppins Bold</vt:lpstr>
      <vt:lpstr>Archivo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Sentiment Analysis</dc:title>
  <cp:lastModifiedBy>Newton Anguyi</cp:lastModifiedBy>
  <cp:revision>2</cp:revision>
  <dcterms:created xsi:type="dcterms:W3CDTF">2006-08-16T00:00:00Z</dcterms:created>
  <dcterms:modified xsi:type="dcterms:W3CDTF">2025-10-18T15:20:45Z</dcterms:modified>
  <dc:identifier>DAG2Jjed5dk</dc:identifier>
</cp:coreProperties>
</file>