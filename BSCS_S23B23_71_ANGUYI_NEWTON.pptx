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9" r:id="rId3"/>
    <p:sldId id="257" r:id="rId4"/>
    <p:sldId id="258" r:id="rId5"/>
    <p:sldId id="260" r:id="rId6"/>
    <p:sldId id="262" r:id="rId7"/>
    <p:sldId id="263" r:id="rId8"/>
    <p:sldId id="264" r:id="rId9"/>
    <p:sldId id="265" r:id="rId10"/>
    <p:sldId id="266" r:id="rId11"/>
    <p:sldId id="26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98B2AB-0B24-4E5E-BE48-CABDB768CB5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FF104-63E1-447C-81E8-357F62BCA8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25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FF104-63E1-447C-81E8-357F62BCA8C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90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2F42-E98B-4DC3-B1B7-F2E46A217C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6CF3D0-28C5-43F9-94A7-4BD9D8E9A4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A1956-A88F-415A-A86D-906E4DB66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4CF33-1DD2-4B49-A284-831540D74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B055B-BE1B-4F5A-8BC5-7E43AE2BE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987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CBF85-BE13-4D7B-AEC1-ACFB16E40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88BD8-8E12-45EA-8962-34BD12238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A4BED-11DE-46C8-9A64-9FAC904B9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DFA5E-7CE7-4A7D-91A9-F5DF294B2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19F6F-4398-43BB-BBB4-07EC38C59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15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EC04D-3A5B-4013-97D7-E082B32F7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E8BC2-E2BC-4988-8DA8-A54100DBC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BB2FE-13F7-4CE3-9338-B4D88B5DB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DFB1C-166E-4EB4-914D-EF88C1C6D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21554-9513-4A14-93D9-7673A5DF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1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205AC-738E-4F0C-81D1-13358425C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EC76F-1146-4767-A50B-2FECF6159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8A9128-2D81-439F-83F4-C7AAA3EA3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EF82A-D6D1-43CC-835C-A969BF376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31D7C-02BE-4A32-AF18-CFE99746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85B838-1EE7-4FAA-BA95-EEBC602F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1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A283A-BC6B-4DD3-BC5C-1F4A81626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E7AC9-2BBA-4829-81AE-CC014E79F7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352782-0114-4A9D-BCD3-BA1191DDF2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44C615-5D24-4DD1-91AC-C8BD33EF6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F0C8B7-2FE5-48AA-81CB-AE4228A37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560BC1-5F31-4F6D-ADB1-725DFA1D4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5CB57C-43D4-4EB8-AB68-94CBA3FEE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B3FCCA-2066-4930-8DC0-565490001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263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B0A63-C50C-4935-BC17-0A7972F9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BD6D46-1DA8-49C2-90B4-433E4489E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60F99-D749-4860-9988-A9070808B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7C0433-3817-4285-9735-99D675E1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213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814C9B-BD19-448E-91B3-B03AA9AC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FE9129-1E75-4E77-AD7B-5E3D66AB5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0CDBA-FB18-402D-87D9-CC122CCA9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926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55EFC-C5BD-439D-9AC0-BDF084506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08204-A165-432C-804E-731AB9BEA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86C23F-0F9C-4E68-8981-890BB7371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FFE31-AD20-4B8D-92D3-A939AAAFA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39462-BD0D-4578-B296-CD035D2EB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06476-5FB2-431C-AF82-5B8EA9CC8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284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B110-1563-4C27-B263-CB329165E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E25EEB-F6D1-4AC5-842C-A21714FD74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81E88-E607-4224-BF23-A7BDE8437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44FD05-7DC7-43BB-B4A5-3BD3592DF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433E1-718B-4587-90C2-54A1B1FCA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E7BA3E-EB01-47CC-AA56-6E6D8653E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17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2BDC5-F072-4901-8912-658BE9C63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542335-4351-48C3-B580-B10EE9BC6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A8DA3-405B-46ED-A0E4-C9629ECB6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1A300-A5FD-44F9-AE5A-EB02C6398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2A124-6B9B-4C8A-8202-459DF6E6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190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F4EA30-C4A6-4FDE-9FAC-849A916AC6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4EA5E1-23E8-456B-B75F-110799DA6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932207-E996-4A1F-B3C7-DB6D68E8A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2EB363-5D03-4C4A-95C0-A158893FE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110A9-9CDE-4BA7-B06A-4FB44D92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F4DC96-2CE7-4F1B-B9CC-7A12DA71C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781AD-4AA5-4188-9AAF-3CEC775279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48E1C-C884-4F92-BC27-E7CF19AA53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5DE3F-6D27-4A56-AFE4-DD6383A64B19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961B9-9F21-48E2-A15E-23CC43E7BB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A0A47-B8EC-4D5E-AA6B-9640860D8C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27251-B4BC-48DB-8EDA-C2F5D35C1C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041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AA5C5-0F2D-48AD-BFA3-FCD96B228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Sentiment Analysis in Healthcare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774F75-DA45-4BBD-AF0D-403EA1B744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ANGUYI NEWTON S23B23_071</a:t>
            </a:r>
          </a:p>
        </p:txBody>
      </p:sp>
    </p:spTree>
    <p:extLst>
      <p:ext uri="{BB962C8B-B14F-4D97-AF65-F5344CB8AC3E}">
        <p14:creationId xmlns:p14="http://schemas.microsoft.com/office/powerpoint/2010/main" val="291294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71449-F1F9-4B05-A9B1-0F233BBA7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About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DE440-8C72-4BAE-A216-2AC63D1E1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253"/>
            <a:ext cx="10515600" cy="4351338"/>
          </a:xfrm>
        </p:spPr>
        <p:txBody>
          <a:bodyPr/>
          <a:lstStyle/>
          <a:p>
            <a:r>
              <a:rPr lang="en-US" b="1" dirty="0"/>
              <a:t>Title</a:t>
            </a:r>
            <a:r>
              <a:rPr lang="en-US" dirty="0"/>
              <a:t>: Abilify Sentiment Analysis </a:t>
            </a:r>
          </a:p>
          <a:p>
            <a:r>
              <a:rPr lang="en-US" b="1" dirty="0"/>
              <a:t>Goal</a:t>
            </a:r>
            <a:r>
              <a:rPr lang="en-US" dirty="0"/>
              <a:t>: Analyze patient reviews to classify them as positive, negative, or neutral. </a:t>
            </a:r>
          </a:p>
          <a:p>
            <a:r>
              <a:rPr lang="en-US" b="1" dirty="0"/>
              <a:t>Dataset</a:t>
            </a:r>
            <a:r>
              <a:rPr lang="en-US" dirty="0"/>
              <a:t>: 1,835 healthcare reviews with attributes:  - Age, Gender, Condition, Duration, Rating, and Review Text. </a:t>
            </a:r>
          </a:p>
          <a:p>
            <a:r>
              <a:rPr lang="en-US" b="1" dirty="0"/>
              <a:t>Tools</a:t>
            </a:r>
            <a:r>
              <a:rPr lang="en-US" dirty="0"/>
              <a:t>: Pandas, NLTK, </a:t>
            </a:r>
            <a:r>
              <a:rPr lang="en-US" dirty="0" err="1"/>
              <a:t>TextBlob</a:t>
            </a:r>
            <a:r>
              <a:rPr lang="en-US" dirty="0"/>
              <a:t>, Scikit-learn.  </a:t>
            </a:r>
          </a:p>
          <a:p>
            <a:endParaRPr lang="en-US" dirty="0"/>
          </a:p>
          <a:p>
            <a:r>
              <a:rPr lang="en-US" b="1" dirty="0"/>
              <a:t>Focus</a:t>
            </a:r>
            <a:r>
              <a:rPr lang="en-US" dirty="0"/>
              <a:t>: Understand patient satisfaction and side-effect trends.</a:t>
            </a:r>
          </a:p>
        </p:txBody>
      </p:sp>
    </p:spTree>
    <p:extLst>
      <p:ext uri="{BB962C8B-B14F-4D97-AF65-F5344CB8AC3E}">
        <p14:creationId xmlns:p14="http://schemas.microsoft.com/office/powerpoint/2010/main" val="2078746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051C9-1D52-4CBF-A372-D45E9D8E9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effectLst/>
                <a:cs typeface="Segoe UI" panose="020B0502040204020203" pitchFamily="34" charset="0"/>
              </a:rPr>
              <a:t>Abilify (Aripiprazole) Background</a:t>
            </a:r>
            <a:endParaRPr lang="en-US" b="1" dirty="0"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A9C46-1441-4187-A766-C627537BA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What it is</a:t>
            </a:r>
            <a:r>
              <a:rPr lang="en-US" b="0" i="0" dirty="0">
                <a:effectLst/>
              </a:rPr>
              <a:t>: Atypical antipsychotic medication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Uses</a:t>
            </a:r>
            <a:r>
              <a:rPr lang="en-US" b="0" i="0" dirty="0">
                <a:effectLst/>
              </a:rPr>
              <a:t>: Treats schizophrenia, bipolar disorder, depression, and other mental health conditions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Importance</a:t>
            </a:r>
            <a:r>
              <a:rPr lang="en-US" b="0" i="0" dirty="0">
                <a:effectLst/>
              </a:rPr>
              <a:t>: Understanding patient experiences is crucial for treatment optimization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Controversy</a:t>
            </a:r>
            <a:r>
              <a:rPr lang="en-US" b="0" i="0" dirty="0">
                <a:effectLst/>
              </a:rPr>
              <a:t>: Known for potential side effects like weight gain and compulsive behaviors</a:t>
            </a:r>
          </a:p>
        </p:txBody>
      </p:sp>
    </p:spTree>
    <p:extLst>
      <p:ext uri="{BB962C8B-B14F-4D97-AF65-F5344CB8AC3E}">
        <p14:creationId xmlns:p14="http://schemas.microsoft.com/office/powerpoint/2010/main" val="370696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374D8-F56A-4D04-B5CD-E1AA454C4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Techniques used during Sentiment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DBAF3-0D09-48A2-98A0-898ACC15A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Rule-based</a:t>
            </a:r>
            <a:r>
              <a:rPr lang="en-US" dirty="0"/>
              <a:t>: Uses predefined word lists.</a:t>
            </a:r>
          </a:p>
          <a:p>
            <a:r>
              <a:rPr lang="en-US" b="1" dirty="0"/>
              <a:t>Machine Learning</a:t>
            </a:r>
            <a:r>
              <a:rPr lang="en-US" dirty="0"/>
              <a:t>: Trains models (e.g., Logistic Regression, SVM).  </a:t>
            </a:r>
          </a:p>
          <a:p>
            <a:r>
              <a:rPr lang="en-US" b="1" dirty="0"/>
              <a:t>Deep Learning</a:t>
            </a:r>
            <a:r>
              <a:rPr lang="en-US" dirty="0"/>
              <a:t>:- Uses neural networks for complex sentiment tasks.</a:t>
            </a:r>
          </a:p>
          <a:p>
            <a:endParaRPr lang="en-US" dirty="0"/>
          </a:p>
          <a:p>
            <a:r>
              <a:rPr lang="en-US" dirty="0"/>
              <a:t> The project used a Machine Learning approach with </a:t>
            </a:r>
            <a:r>
              <a:rPr lang="en-US" b="1" dirty="0"/>
              <a:t>TF-IDF</a:t>
            </a:r>
            <a:r>
              <a:rPr lang="en-US" dirty="0"/>
              <a:t> </a:t>
            </a:r>
            <a:r>
              <a:rPr lang="en-US" b="1" dirty="0"/>
              <a:t>+ Logistic Regression. </a:t>
            </a:r>
          </a:p>
        </p:txBody>
      </p:sp>
    </p:spTree>
    <p:extLst>
      <p:ext uri="{BB962C8B-B14F-4D97-AF65-F5344CB8AC3E}">
        <p14:creationId xmlns:p14="http://schemas.microsoft.com/office/powerpoint/2010/main" val="3368442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F9EA-65D7-4D97-92D5-2FE55875B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88689-B4D5-47C2-ACFA-3D0FDA659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reviews were </a:t>
            </a:r>
            <a:r>
              <a:rPr lang="en-US" b="1" dirty="0"/>
              <a:t>positive</a:t>
            </a:r>
            <a:r>
              <a:rPr lang="en-US" dirty="0"/>
              <a:t> or</a:t>
            </a:r>
            <a:r>
              <a:rPr lang="en-US" b="1" dirty="0"/>
              <a:t> negative</a:t>
            </a:r>
            <a:r>
              <a:rPr lang="en-US" dirty="0"/>
              <a:t> — few neutral.  - </a:t>
            </a:r>
          </a:p>
          <a:p>
            <a:r>
              <a:rPr lang="en-US" b="1" dirty="0"/>
              <a:t>Positive themes: </a:t>
            </a:r>
            <a:r>
              <a:rPr lang="en-US" dirty="0"/>
              <a:t>“helped”, “better”, “effective”.  </a:t>
            </a:r>
          </a:p>
          <a:p>
            <a:r>
              <a:rPr lang="en-US" b="1" dirty="0"/>
              <a:t>Negative themes: </a:t>
            </a:r>
            <a:r>
              <a:rPr lang="en-US" dirty="0"/>
              <a:t>“weight gain”, “tired”, “anxiety”.  </a:t>
            </a:r>
          </a:p>
          <a:p>
            <a:r>
              <a:rPr lang="en-US" b="1" dirty="0"/>
              <a:t>Model Accuracy</a:t>
            </a:r>
            <a:r>
              <a:rPr lang="en-US" dirty="0"/>
              <a:t>:    - Logistic Regression ≈ </a:t>
            </a:r>
            <a:r>
              <a:rPr lang="en-US" b="1" dirty="0"/>
              <a:t>88%</a:t>
            </a:r>
            <a:r>
              <a:rPr lang="en-US" dirty="0"/>
              <a:t> (best performance).  </a:t>
            </a:r>
          </a:p>
          <a:p>
            <a:r>
              <a:rPr lang="en-US" b="1" dirty="0"/>
              <a:t>Insight</a:t>
            </a:r>
            <a:r>
              <a:rPr lang="en-US" dirty="0"/>
              <a:t>: Long-term users show more positivity; short-term users report side effects.</a:t>
            </a:r>
          </a:p>
        </p:txBody>
      </p:sp>
    </p:spTree>
    <p:extLst>
      <p:ext uri="{BB962C8B-B14F-4D97-AF65-F5344CB8AC3E}">
        <p14:creationId xmlns:p14="http://schemas.microsoft.com/office/powerpoint/2010/main" val="3312736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F92E23-DFD3-4308-8AD7-42606B23E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9340"/>
            <a:ext cx="12192000" cy="510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570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F5E64A-8338-42EA-BDEE-DF8B04BCDD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9083"/>
            <a:ext cx="12192000" cy="533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47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B0B37A-B891-4D1B-8A46-34818A250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128"/>
            <a:ext cx="12192000" cy="393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029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7E5404-FD85-41A1-BBA4-0D780EBE77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941" y="286946"/>
            <a:ext cx="8606118" cy="657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600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753475-2F9A-43F8-AE57-577FBE922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125" y="775917"/>
            <a:ext cx="9135750" cy="530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258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A83C0-DD76-4D58-A82E-4E7F609E1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BA3C3-8061-4E3B-8564-19DB39133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Sentiment Analysis reveals real-world </a:t>
            </a:r>
            <a:r>
              <a:rPr lang="en-US" b="1" dirty="0"/>
              <a:t>patient experiences</a:t>
            </a:r>
            <a:r>
              <a:rPr lang="en-US" dirty="0"/>
              <a:t>.  </a:t>
            </a:r>
          </a:p>
          <a:p>
            <a:r>
              <a:rPr lang="en-US" dirty="0"/>
              <a:t>Helps improve understanding of </a:t>
            </a:r>
            <a:r>
              <a:rPr lang="en-US" b="1" dirty="0"/>
              <a:t>drug perception and side effects</a:t>
            </a:r>
            <a:r>
              <a:rPr lang="en-US" dirty="0"/>
              <a:t>.</a:t>
            </a:r>
          </a:p>
          <a:p>
            <a:r>
              <a:rPr lang="en-US" dirty="0"/>
              <a:t>Machine learning offers reliable tools for analyzing large-scale patient feedback.  </a:t>
            </a:r>
          </a:p>
          <a:p>
            <a:r>
              <a:rPr lang="en-US" dirty="0"/>
              <a:t>Abilify sentiment analysis shows both positive outcomes and challenges guiding better mental health care decisions.</a:t>
            </a:r>
          </a:p>
        </p:txBody>
      </p:sp>
    </p:spTree>
    <p:extLst>
      <p:ext uri="{BB962C8B-B14F-4D97-AF65-F5344CB8AC3E}">
        <p14:creationId xmlns:p14="http://schemas.microsoft.com/office/powerpoint/2010/main" val="30036258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286</Words>
  <Application>Microsoft Office PowerPoint</Application>
  <PresentationFormat>Widescreen</PresentationFormat>
  <Paragraphs>32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Sentiment Analysis in Healthcare</vt:lpstr>
      <vt:lpstr>About the Project</vt:lpstr>
      <vt:lpstr>Abilify (Aripiprazole) Background</vt:lpstr>
      <vt:lpstr>Techniques used during Sentiment Analysis</vt:lpstr>
      <vt:lpstr>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Sentiment Analysis in Healthcare</dc:title>
  <dc:creator>Newton Anguyi</dc:creator>
  <cp:lastModifiedBy>Newton Anguyi</cp:lastModifiedBy>
  <cp:revision>14</cp:revision>
  <dcterms:created xsi:type="dcterms:W3CDTF">2025-10-16T05:07:43Z</dcterms:created>
  <dcterms:modified xsi:type="dcterms:W3CDTF">2025-10-16T08:00:14Z</dcterms:modified>
</cp:coreProperties>
</file>